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1" r:id="rId15"/>
    <p:sldId id="267" r:id="rId16"/>
    <p:sldId id="272" r:id="rId17"/>
    <p:sldId id="273" r:id="rId18"/>
    <p:sldId id="274" r:id="rId19"/>
    <p:sldId id="284" r:id="rId20"/>
    <p:sldId id="268" r:id="rId21"/>
    <p:sldId id="270" r:id="rId22"/>
    <p:sldId id="277" r:id="rId23"/>
    <p:sldId id="278" r:id="rId24"/>
    <p:sldId id="269" r:id="rId25"/>
    <p:sldId id="279" r:id="rId26"/>
    <p:sldId id="281" r:id="rId27"/>
    <p:sldId id="280" r:id="rId28"/>
    <p:sldId id="282" r:id="rId29"/>
    <p:sldId id="287" r:id="rId30"/>
  </p:sldIdLst>
  <p:sldSz cx="12191365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平均速度变化</c:f>
              <c:strCache>
                <c:ptCount val="1"/>
                <c:pt idx="0">
                  <c:v>平均速度变化</c:v>
                </c:pt>
              </c:strCache>
            </c:strRef>
          </c:tx>
          <c:spPr>
            <a:ln w="28575" cap="rnd">
              <a:solidFill>
                <a:srgbClr val="215B94"/>
              </a:solidFill>
              <a:prstDash val="solid"/>
              <a:round/>
            </a:ln>
          </c:spPr>
          <c:marker>
            <c:symbol val="circle"/>
            <c:size val="8"/>
            <c:spPr>
              <a:solidFill>
                <a:srgbClr val="215B94"/>
              </a:solidFill>
            </c:spPr>
          </c:marker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{"25%","50%","75%","100%"}</c:f>
              <c:strCache>
                <c:ptCount val="4"/>
                <c:pt idx="0">
                  <c:v>25%</c:v>
                </c:pt>
                <c:pt idx="1">
                  <c:v>50%</c:v>
                </c:pt>
                <c:pt idx="2">
                  <c:v>75%</c:v>
                </c:pt>
                <c:pt idx="3">
                  <c:v>100%</c:v>
                </c:pt>
              </c:strCache>
            </c:strRef>
          </c:cat>
          <c:val>
            <c:numRef>
              <c:f>{0.2546,0.4464,0.6372,0.9147}</c:f>
              <c:numCache>
                <c:formatCode>0.0000</c:formatCode>
                <c:ptCount val="4"/>
                <c:pt idx="0">
                  <c:v>0.2546</c:v>
                </c:pt>
                <c:pt idx="1">
                  <c:v>0.4464</c:v>
                </c:pt>
                <c:pt idx="2">
                  <c:v>0.6372</c:v>
                </c:pt>
                <c:pt idx="3">
                  <c:v>0.9147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715" b="1">
                    <a:solidFill>
                      <a:srgbClr val="233D53"/>
                    </a:solidFill>
                    <a:latin typeface="PingFang SC" panose="020B0400000000000000" charset="-122"/>
                    <a:ea typeface="PingFang SC" panose="020B0400000000000000" charset="-122"/>
                    <a:cs typeface="PingFang SC" panose="020B0400000000000000" charset="-122"/>
                  </a:rPr>
                  <a:t>规划器纵向参数名义干预强度</a:t>
                </a:r>
                <a:endParaRPr sz="715" b="1">
                  <a:solidFill>
                    <a:srgbClr val="233D53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9DCE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65" b="0" i="0" u="none" strike="noStrike" kern="1200" baseline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CE8F0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90" b="1">
                    <a:solidFill>
                      <a:srgbClr val="215B94"/>
                    </a:solidFill>
                    <a:latin typeface="PingFang SC" panose="020B0400000000000000" charset="-122"/>
                    <a:ea typeface="PingFang SC" panose="020B0400000000000000" charset="-122"/>
                    <a:cs typeface="PingFang SC" panose="020B0400000000000000" charset="-122"/>
                  </a:rPr>
                  <a:t>平均速度变化 Δv（m/s）</a:t>
                </a:r>
                <a:endParaRPr sz="690" b="1">
                  <a:solidFill>
                    <a:srgbClr val="215B94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endParaRPr>
              </a:p>
            </c:rich>
          </c:tx>
          <c:layout/>
          <c:overlay val="0"/>
        </c:title>
        <c:numFmt formatCode="0.0000" sourceLinked="1"/>
        <c:majorTickMark val="none"/>
        <c:minorTickMark val="none"/>
        <c:tickLblPos val="nextTo"/>
        <c:spPr>
          <a:ln w="9525">
            <a:solidFill>
              <a:srgbClr val="C9DCE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65" b="0" i="0" u="none" strike="noStrike" kern="1200" baseline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6346a9f9-8102-4003-8143-737ae3ea41b2}"/>
      </c:ext>
    </c:extLst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RMS加速度变化</c:f>
              <c:strCache>
                <c:ptCount val="1"/>
                <c:pt idx="0">
                  <c:v>RMS加速度变化</c:v>
                </c:pt>
              </c:strCache>
            </c:strRef>
          </c:tx>
          <c:spPr>
            <a:ln w="28575" cap="rnd">
              <a:solidFill>
                <a:srgbClr val="347F70"/>
              </a:solidFill>
              <a:prstDash val="solid"/>
              <a:round/>
            </a:ln>
          </c:spPr>
          <c:marker>
            <c:symbol val="circle"/>
            <c:size val="8"/>
            <c:spPr>
              <a:solidFill>
                <a:srgbClr val="347F70"/>
              </a:solidFill>
            </c:spPr>
          </c:marker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{"25%","50%","75%","100%"}</c:f>
              <c:strCache>
                <c:ptCount val="4"/>
                <c:pt idx="0">
                  <c:v>25%</c:v>
                </c:pt>
                <c:pt idx="1">
                  <c:v>50%</c:v>
                </c:pt>
                <c:pt idx="2">
                  <c:v>75%</c:v>
                </c:pt>
                <c:pt idx="3">
                  <c:v>100%</c:v>
                </c:pt>
              </c:strCache>
            </c:strRef>
          </c:cat>
          <c:val>
            <c:numRef>
              <c:f>{0.0361,0.077,0.1279,0.1816}</c:f>
              <c:numCache>
                <c:formatCode>0.0000</c:formatCode>
                <c:ptCount val="4"/>
                <c:pt idx="0">
                  <c:v>0.0361</c:v>
                </c:pt>
                <c:pt idx="1">
                  <c:v>0.077</c:v>
                </c:pt>
                <c:pt idx="2">
                  <c:v>0.1279</c:v>
                </c:pt>
                <c:pt idx="3">
                  <c:v>0.1816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715" b="1">
                    <a:solidFill>
                      <a:srgbClr val="233D53"/>
                    </a:solidFill>
                    <a:latin typeface="PingFang SC" panose="020B0400000000000000" charset="-122"/>
                    <a:ea typeface="PingFang SC" panose="020B0400000000000000" charset="-122"/>
                    <a:cs typeface="PingFang SC" panose="020B0400000000000000" charset="-122"/>
                  </a:rPr>
                  <a:t>规划器纵向参数名义干预强度</a:t>
                </a:r>
                <a:endParaRPr sz="715" b="1">
                  <a:solidFill>
                    <a:srgbClr val="233D53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9DCE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65" b="0" i="0" u="none" strike="noStrike" kern="1200" baseline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2"/>
          <c:min val="0"/>
        </c:scaling>
        <c:delete val="0"/>
        <c:axPos val="l"/>
        <c:majorGridlines>
          <c:spPr>
            <a:ln w="9525">
              <a:solidFill>
                <a:srgbClr val="DCE8F0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90" b="1">
                    <a:solidFill>
                      <a:srgbClr val="347F70"/>
                    </a:solidFill>
                    <a:latin typeface="PingFang SC" panose="020B0400000000000000" charset="-122"/>
                    <a:ea typeface="PingFang SC" panose="020B0400000000000000" charset="-122"/>
                    <a:cs typeface="PingFang SC" panose="020B0400000000000000" charset="-122"/>
                  </a:rPr>
                  <a:t>RMS加速度变化 Δa_RMS（m/s²）</a:t>
                </a:r>
                <a:endParaRPr sz="690" b="1">
                  <a:solidFill>
                    <a:srgbClr val="347F7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endParaRPr>
              </a:p>
            </c:rich>
          </c:tx>
          <c:layout/>
          <c:overlay val="0"/>
        </c:title>
        <c:numFmt formatCode="0.0000" sourceLinked="1"/>
        <c:majorTickMark val="none"/>
        <c:minorTickMark val="none"/>
        <c:tickLblPos val="nextTo"/>
        <c:spPr>
          <a:ln w="9525">
            <a:solidFill>
              <a:srgbClr val="C9DCE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65" b="0" i="0" u="none" strike="noStrike" kern="1200" baseline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</a:p>
        </c:txPr>
        <c:crossAx val="48650112"/>
        <c:crosses val="autoZero"/>
        <c:crossBetween val="between"/>
        <c:majorUnit val="0.05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e551317-2418-40a3-af8c-876c727fd8a0}"/>
      </c:ext>
    </c:extLst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整体行为分布差异（MMD²）</c:f>
              <c:strCache>
                <c:ptCount val="1"/>
                <c:pt idx="0">
                  <c:v>整体行为分布差异（MMD²）</c:v>
                </c:pt>
              </c:strCache>
            </c:strRef>
          </c:tx>
          <c:spPr>
            <a:ln w="28575" cap="rnd">
              <a:solidFill>
                <a:srgbClr val="BB7E28"/>
              </a:solidFill>
              <a:prstDash val="solid"/>
              <a:round/>
            </a:ln>
          </c:spPr>
          <c:marker>
            <c:symbol val="circle"/>
            <c:size val="8"/>
            <c:spPr>
              <a:solidFill>
                <a:srgbClr val="BB7E28"/>
              </a:solidFill>
            </c:spPr>
          </c:marker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{"25%","50%","75%","100%"}</c:f>
              <c:strCache>
                <c:ptCount val="4"/>
                <c:pt idx="0">
                  <c:v>25%</c:v>
                </c:pt>
                <c:pt idx="1">
                  <c:v>50%</c:v>
                </c:pt>
                <c:pt idx="2">
                  <c:v>75%</c:v>
                </c:pt>
                <c:pt idx="3">
                  <c:v>100%</c:v>
                </c:pt>
              </c:strCache>
            </c:strRef>
          </c:cat>
          <c:val>
            <c:numRef>
              <c:f>{0.00115612,0.00159972,0.00332234,0.0050009}</c:f>
              <c:numCache>
                <c:formatCode>0.00000</c:formatCode>
                <c:ptCount val="4"/>
                <c:pt idx="0">
                  <c:v>0.00115612</c:v>
                </c:pt>
                <c:pt idx="1">
                  <c:v>0.00159972</c:v>
                </c:pt>
                <c:pt idx="2">
                  <c:v>0.00332234</c:v>
                </c:pt>
                <c:pt idx="3">
                  <c:v>0.0050009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715" b="1">
                    <a:solidFill>
                      <a:srgbClr val="233D53"/>
                    </a:solidFill>
                    <a:latin typeface="PingFang SC" panose="020B0400000000000000" charset="-122"/>
                    <a:ea typeface="PingFang SC" panose="020B0400000000000000" charset="-122"/>
                    <a:cs typeface="PingFang SC" panose="020B0400000000000000" charset="-122"/>
                  </a:rPr>
                  <a:t>规划器纵向参数名义干预强度</a:t>
                </a:r>
                <a:endParaRPr sz="715" b="1">
                  <a:solidFill>
                    <a:srgbClr val="233D53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9DCE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65" b="0" i="0" u="none" strike="noStrike" kern="1200" baseline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0055"/>
          <c:min val="0"/>
        </c:scaling>
        <c:delete val="0"/>
        <c:axPos val="l"/>
        <c:majorGridlines>
          <c:spPr>
            <a:ln w="9525">
              <a:solidFill>
                <a:srgbClr val="DCE8F0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90" b="1">
                    <a:solidFill>
                      <a:srgbClr val="BB7E28"/>
                    </a:solidFill>
                    <a:latin typeface="PingFang SC" panose="020B0400000000000000" charset="-122"/>
                    <a:ea typeface="PingFang SC" panose="020B0400000000000000" charset="-122"/>
                    <a:cs typeface="PingFang SC" panose="020B0400000000000000" charset="-122"/>
                  </a:rPr>
                  <a:t>MMD²</a:t>
                </a:r>
                <a:endParaRPr sz="690" b="1">
                  <a:solidFill>
                    <a:srgbClr val="BB7E2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endParaRPr>
              </a:p>
            </c:rich>
          </c:tx>
          <c:layout/>
          <c:overlay val="0"/>
        </c:title>
        <c:numFmt formatCode="0.00000" sourceLinked="1"/>
        <c:majorTickMark val="none"/>
        <c:minorTickMark val="none"/>
        <c:tickLblPos val="nextTo"/>
        <c:spPr>
          <a:ln w="9525">
            <a:solidFill>
              <a:srgbClr val="C9DCE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65" b="0" i="0" u="none" strike="noStrike" kern="1200" baseline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</a:p>
        </c:txPr>
        <c:crossAx val="48650112"/>
        <c:crosses val="autoZero"/>
        <c:crossBetween val="between"/>
        <c:majorUnit val="0.001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14d8d14-eec3-4b6f-9f8a-d214a9c8c929}"/>
      </c:ext>
    </c:extLst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MMD</a:t>
            </a:r>
            <a:r>
              <a:rPr lang="zh-CN" altLang="en-US"/>
              <a:t>的中文名称是最大均值差异，是一种用于比较两个概率分布的统计方法。</a:t>
            </a:r>
            <a:endParaRPr lang="zh-CN" altLang="en-US"/>
          </a:p>
          <a:p>
            <a:r>
              <a:rPr lang="zh-CN" altLang="en-US"/>
              <a:t>在我的研究中，首先将不同软件版本产生的驾驶轨迹转换为固定维度的行为向量，再利用</a:t>
            </a:r>
            <a:r>
              <a:rPr lang="en-US" altLang="zh-CN"/>
              <a:t>MMD²</a:t>
            </a:r>
            <a:r>
              <a:rPr lang="zh-CN" altLang="en-US"/>
              <a:t>衡量两个版本在行为表示空间中的整体分布差异。</a:t>
            </a:r>
            <a:endParaRPr lang="zh-CN" altLang="en-US"/>
          </a:p>
          <a:p>
            <a:r>
              <a:rPr lang="zh-CN" altLang="en-US"/>
              <a:t>与简单比较平均速度或平均加速度不同，</a:t>
            </a:r>
            <a:r>
              <a:rPr lang="en-US" altLang="zh-CN"/>
              <a:t>MMD</a:t>
            </a:r>
            <a:r>
              <a:rPr lang="zh-CN" altLang="en-US"/>
              <a:t>能够反映更复杂的高维分布变化。</a:t>
            </a:r>
            <a:endParaRPr lang="zh-CN" altLang="en-US"/>
          </a:p>
          <a:p>
            <a:r>
              <a:rPr lang="zh-CN" altLang="en-US"/>
              <a:t>但</a:t>
            </a:r>
            <a:r>
              <a:rPr lang="en-US" altLang="zh-CN"/>
              <a:t>MMD²</a:t>
            </a:r>
            <a:r>
              <a:rPr lang="zh-CN" altLang="en-US"/>
              <a:t>本身不能直接判断行为变化是否显著，因此我进一步通过同场景配对随机化检验或异场景</a:t>
            </a:r>
            <a:r>
              <a:rPr lang="en-US" altLang="zh-CN"/>
              <a:t>A/A</a:t>
            </a:r>
            <a:r>
              <a:rPr lang="zh-CN" altLang="en-US"/>
              <a:t>背景标定，确定实际观测差异是否超过正常背景波动。</a:t>
            </a:r>
            <a:endParaRPr lang="zh-CN" altLang="en-US"/>
          </a:p>
          <a:p>
            <a:r>
              <a:rPr lang="zh-CN" altLang="en-US"/>
              <a:t>最后通过车头时距、加速度、横摆角速度等物理指标解释变化的具体方向。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8秒，可以覆盖一段具有完整时序特征的驾驶行为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sz="1200"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7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15B94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1417320"/>
            <a:ext cx="11064240" cy="15062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端到端</a:t>
            </a:r>
            <a:r>
              <a:rPr sz="30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自动</a:t>
            </a:r>
            <a:r>
              <a:rPr sz="30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驾驶策略行为漂移评估研究</a:t>
            </a:r>
            <a:endParaRPr sz="30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Behavior Drift Evaluation of End-to-End Auto</a:t>
            </a:r>
            <a:r>
              <a:rPr sz="20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mated Driving Policies</a:t>
            </a:r>
            <a:endParaRPr sz="20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1097280" y="2423160"/>
            <a:ext cx="9966960" cy="38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00" b="0">
                <a:solidFill>
                  <a:srgbClr val="6D7A8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工程</a:t>
            </a:r>
            <a:r>
              <a:rPr sz="1900" b="0">
                <a:solidFill>
                  <a:srgbClr val="6D7A8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博士研究生开题答辩</a:t>
            </a:r>
            <a:endParaRPr sz="1900" b="0">
              <a:solidFill>
                <a:srgbClr val="6D7A8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2011680" y="3154680"/>
            <a:ext cx="8183879" cy="841248"/>
          </a:xfrm>
          <a:prstGeom prst="roundRect">
            <a:avLst>
              <a:gd name="adj" fmla="val 0"/>
            </a:avLst>
          </a:prstGeom>
          <a:solidFill>
            <a:srgbClr val="EDF4FA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核心研究问题</a:t>
            </a:r>
            <a:endParaRPr sz="175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两个都“能开”的软件版本，驾驶行为到底有没有发生系统性变化？</a:t>
            </a:r>
            <a:endParaRPr sz="150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3108960" y="4617720"/>
            <a:ext cx="603504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汇报人：刘庆
指导教师：王越
浙江大学工程师学院 · 2026年</a:t>
            </a:r>
            <a:r>
              <a:rPr lang="en-US" sz="14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r>
              <a:rPr sz="14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月</a:t>
            </a:r>
            <a:endParaRPr sz="14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146304" y="6199632"/>
            <a:ext cx="11905488" cy="457200"/>
          </a:xfrm>
          <a:prstGeom prst="roundRect">
            <a:avLst>
              <a:gd name="adj" fmla="val 0"/>
            </a:avLst>
          </a:prstGeom>
          <a:solidFill>
            <a:srgbClr val="E8F0F8"/>
          </a:solidFill>
          <a:ln w="952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汇报结构：背景与现状 → 总体框架 → 五个模块展开 → 数据与实验 → 创新点与预期成果</a:t>
            </a:r>
            <a:endParaRPr sz="13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>
            <a:spLocks noGrp="1"/>
          </p:cNvSpPr>
          <p:nvPr/>
        </p:nvSpPr>
        <p:spPr>
          <a:xfrm>
            <a:off x="109728" y="73152"/>
            <a:ext cx="4892040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64592" anchor="ctr"/>
          <a:lstStyle/>
          <a:p>
            <a:pPr algn="l">
              <a:spcAft>
                <a:spcPts val="0"/>
              </a:spcAft>
              <a:buNone/>
              <a:defRPr sz="17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074920" y="73152"/>
            <a:ext cx="6967728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2880" anchor="ctr"/>
          <a:lstStyle/>
          <a:p>
            <a:pPr algn="l">
              <a:spcAft>
                <a:spcPts val="0"/>
              </a:spcAft>
              <a:buNone/>
              <a:defRPr sz="1070" b="0">
                <a:solidFill>
                  <a:srgbClr val="6D7A8E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164592" y="895350"/>
            <a:ext cx="3767328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164592" y="895350"/>
            <a:ext cx="3767328" cy="469087"/>
          </a:xfrm>
          <a:prstGeom prst="roundRect">
            <a:avLst>
              <a:gd name="adj" fmla="val 0"/>
            </a:avLst>
          </a:prstGeom>
          <a:solidFill>
            <a:srgbClr val="215B94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Oval 5"/>
          <p:cNvSpPr>
            <a:spLocks noGrp="1"/>
          </p:cNvSpPr>
          <p:nvPr/>
        </p:nvSpPr>
        <p:spPr>
          <a:xfrm>
            <a:off x="292608" y="982217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2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94944" y="999592"/>
            <a:ext cx="3145536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端到端架构带来的新问题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420624" y="1564234"/>
            <a:ext cx="3218688" cy="5242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一次模型更新，可能同时改变多种驾驶行为</a:t>
            </a:r>
            <a:endParaRPr sz="14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640080" y="2024634"/>
            <a:ext cx="2724912" cy="304038"/>
          </a:xfrm>
          <a:prstGeom prst="roundRect">
            <a:avLst>
              <a:gd name="adj" fmla="val 0"/>
            </a:avLst>
          </a:prstGeom>
          <a:solidFill>
            <a:srgbClr val="EDF4FA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跟车距离 / THW</a:t>
            </a:r>
            <a:endParaRPr sz="120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40080" y="2667457"/>
            <a:ext cx="2724912" cy="304038"/>
          </a:xfrm>
          <a:prstGeom prst="roundRect">
            <a:avLst>
              <a:gd name="adj" fmla="val 0"/>
            </a:avLst>
          </a:prstGeom>
          <a:solidFill>
            <a:srgbClr val="EDF4FA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加减速方式 / 舒适性</a:t>
            </a:r>
            <a:endParaRPr sz="120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40080" y="3310280"/>
            <a:ext cx="2724912" cy="304038"/>
          </a:xfrm>
          <a:prstGeom prst="roundRect">
            <a:avLst>
              <a:gd name="adj" fmla="val 0"/>
            </a:avLst>
          </a:prstGeom>
          <a:solidFill>
            <a:srgbClr val="EDF4FA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变道积极性 / 横向稳定</a:t>
            </a:r>
            <a:endParaRPr sz="120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40080" y="3953104"/>
            <a:ext cx="2724912" cy="304038"/>
          </a:xfrm>
          <a:prstGeom prst="roundRect">
            <a:avLst>
              <a:gd name="adj" fmla="val 0"/>
            </a:avLst>
          </a:prstGeom>
          <a:solidFill>
            <a:srgbClr val="EDF4FA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周车交互与响应时机</a:t>
            </a:r>
            <a:endParaRPr sz="120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420624" y="4682795"/>
            <a:ext cx="3236976" cy="6629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即使碰撞率、接管率、路线完成率变化不大，乘员仍可能直接感知“这个版本开起来不一样”。</a:t>
            </a:r>
            <a:endParaRPr sz="12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4187952" y="895350"/>
            <a:ext cx="3767328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4187952" y="895350"/>
            <a:ext cx="3767328" cy="469087"/>
          </a:xfrm>
          <a:prstGeom prst="roundRect">
            <a:avLst>
              <a:gd name="adj" fmla="val 0"/>
            </a:avLst>
          </a:prstGeom>
          <a:solidFill>
            <a:srgbClr val="BB7E28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Oval 15"/>
          <p:cNvSpPr>
            <a:spLocks noGrp="1"/>
          </p:cNvSpPr>
          <p:nvPr/>
        </p:nvSpPr>
        <p:spPr>
          <a:xfrm>
            <a:off x="4315968" y="982217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20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4718304" y="999592"/>
            <a:ext cx="3145536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传统评价能够回答什么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4443984" y="1564234"/>
            <a:ext cx="3218688" cy="3078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传统KPI非常重要，但重点不同</a:t>
            </a:r>
            <a:endParaRPr sz="14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4462272" y="1981200"/>
            <a:ext cx="3182112" cy="868680"/>
          </a:xfrm>
          <a:prstGeom prst="roundRect">
            <a:avLst>
              <a:gd name="adj" fmla="val 0"/>
            </a:avLst>
          </a:prstGeom>
          <a:solidFill>
            <a:srgbClr val="FFF5E9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安全与规则</a:t>
            </a:r>
            <a:endParaRPr sz="145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碰撞、越界、闯红灯、最小安全距离</a:t>
            </a:r>
            <a:endParaRPr sz="116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4462272" y="2980182"/>
            <a:ext cx="3182112" cy="868680"/>
          </a:xfrm>
          <a:prstGeom prst="roundRect">
            <a:avLst>
              <a:gd name="adj" fmla="val 0"/>
            </a:avLst>
          </a:prstGeom>
          <a:solidFill>
            <a:srgbClr val="FFF5E9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轨迹与效率</a:t>
            </a:r>
            <a:endParaRPr sz="145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ADE/FDE、通行效率、路线完成率</a:t>
            </a:r>
            <a:endParaRPr sz="116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4462272" y="3979164"/>
            <a:ext cx="3182112" cy="868680"/>
          </a:xfrm>
          <a:prstGeom prst="roundRect">
            <a:avLst>
              <a:gd name="adj" fmla="val 0"/>
            </a:avLst>
          </a:prstGeom>
          <a:solidFill>
            <a:srgbClr val="FFF5E9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综合驾驶能力</a:t>
            </a:r>
            <a:endParaRPr sz="145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判断系统能否安全、有效完成任务</a:t>
            </a:r>
            <a:endParaRPr sz="116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4480560" y="5065014"/>
            <a:ext cx="3145536" cy="472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5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但难回答：两个都合格的版本，行为到底哪里不同？</a:t>
            </a:r>
            <a:endParaRPr sz="125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8211312" y="895350"/>
            <a:ext cx="379476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8211312" y="895350"/>
            <a:ext cx="3794760" cy="469087"/>
          </a:xfrm>
          <a:prstGeom prst="roundRect">
            <a:avLst>
              <a:gd name="adj" fmla="val 0"/>
            </a:avLst>
          </a:prstGeom>
          <a:solidFill>
            <a:srgbClr val="08A0BF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Oval 24"/>
          <p:cNvSpPr>
            <a:spLocks noGrp="1"/>
          </p:cNvSpPr>
          <p:nvPr/>
        </p:nvSpPr>
        <p:spPr>
          <a:xfrm>
            <a:off x="8339328" y="982217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08A0B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200" b="1">
              <a:solidFill>
                <a:srgbClr val="08A0B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8741664" y="999592"/>
            <a:ext cx="3172968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本研究的理论与工程价值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8449056" y="1590294"/>
            <a:ext cx="3310128" cy="1494130"/>
          </a:xfrm>
          <a:prstGeom prst="roundRect">
            <a:avLst>
              <a:gd name="adj" fmla="val 0"/>
            </a:avLst>
          </a:prstGeom>
          <a:solidFill>
            <a:srgbClr val="EFF8FA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6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理论价值</a:t>
            </a:r>
            <a:endParaRPr sz="146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把评价对象由“单模型性能”扩展到“版本间行为分布变化”</a:t>
            </a:r>
            <a:endParaRPr sz="116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研究人工语义与学习式行为表示之间的信息关系</a:t>
            </a:r>
            <a:endParaRPr sz="116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8449056" y="3258160"/>
            <a:ext cx="3310128" cy="1494130"/>
          </a:xfrm>
          <a:prstGeom prst="roundRect">
            <a:avLst>
              <a:gd name="adj" fmla="val 0"/>
            </a:avLst>
          </a:prstGeom>
          <a:solidFill>
            <a:srgbClr val="EFF8FA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6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工程价值</a:t>
            </a:r>
            <a:endParaRPr sz="146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支持软件版本回归、体验变化检测和问题场景定位</a:t>
            </a:r>
            <a:endParaRPr sz="116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在实车主观评价前实现自动筛查</a:t>
            </a:r>
            <a:endParaRPr sz="116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8503920" y="5047640"/>
            <a:ext cx="3154680" cy="472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50" b="1">
                <a:solidFill>
                  <a:srgbClr val="08A0B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核心目标：把“体验差异”变成可测量、可回放的证据。</a:t>
            </a:r>
            <a:endParaRPr sz="1250" b="1">
              <a:solidFill>
                <a:srgbClr val="08A0B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Rounded Rectangle 29"/>
          <p:cNvSpPr>
            <a:spLocks noGrp="1"/>
          </p:cNvSpPr>
          <p:nvPr/>
        </p:nvSpPr>
        <p:spPr>
          <a:xfrm>
            <a:off x="146304" y="6199632"/>
            <a:ext cx="11905488" cy="457200"/>
          </a:xfrm>
          <a:prstGeom prst="roundRect">
            <a:avLst>
              <a:gd name="adj" fmla="val 0"/>
            </a:avLst>
          </a:prstGeom>
          <a:solidFill>
            <a:srgbClr val="E8F0F8"/>
          </a:solidFill>
          <a:ln w="952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选题意义：在安全和效率评价之外，再增加一层“端到端软件版本行为一致性与漂移监控”。</a:t>
            </a:r>
            <a:endParaRPr sz="13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0" y="0"/>
            <a:ext cx="12191362" cy="742950"/>
          </a:xfrm>
          <a:prstGeom prst="rect">
            <a:avLst/>
          </a:prstGeom>
          <a:solidFill>
            <a:srgbClr val="215B94"/>
          </a:solidFill>
          <a:ln w="0">
            <a:noFill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66700" y="47625"/>
            <a:ext cx="116586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  选题背景及意义</a:t>
            </a:r>
            <a:endParaRPr sz="21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66700" y="419100"/>
            <a:ext cx="116586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为什么端到端软件版本需要独立的“行为变化评价”</a:t>
            </a:r>
            <a:endParaRPr sz="13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>
            <a:spLocks noGrp="1"/>
          </p:cNvSpPr>
          <p:nvPr/>
        </p:nvSpPr>
        <p:spPr>
          <a:xfrm>
            <a:off x="109728" y="73152"/>
            <a:ext cx="4892040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64592" anchor="ctr"/>
          <a:lstStyle/>
          <a:p>
            <a:pPr algn="l">
              <a:spcAft>
                <a:spcPts val="0"/>
              </a:spcAft>
              <a:buNone/>
              <a:defRPr sz="17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074920" y="73152"/>
            <a:ext cx="6967728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2880" anchor="ctr"/>
          <a:lstStyle/>
          <a:p>
            <a:pPr algn="l">
              <a:spcAft>
                <a:spcPts val="0"/>
              </a:spcAft>
              <a:buNone/>
              <a:defRPr sz="1070" b="0">
                <a:solidFill>
                  <a:srgbClr val="6D7A8E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164592" y="912724"/>
            <a:ext cx="278892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164592" y="912724"/>
            <a:ext cx="2788920" cy="469087"/>
          </a:xfrm>
          <a:prstGeom prst="roundRect">
            <a:avLst>
              <a:gd name="adj" fmla="val 0"/>
            </a:avLst>
          </a:prstGeom>
          <a:solidFill>
            <a:srgbClr val="215B94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Oval 5"/>
          <p:cNvSpPr>
            <a:spLocks noGrp="1"/>
          </p:cNvSpPr>
          <p:nvPr/>
        </p:nvSpPr>
        <p:spPr>
          <a:xfrm>
            <a:off x="292608" y="999592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2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94944" y="1016965"/>
            <a:ext cx="2167127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端到端规划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329184" y="1546860"/>
            <a:ext cx="2459736" cy="3127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UniAD、VAD等</a:t>
            </a:r>
            <a:endParaRPr sz="124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347472" y="2007260"/>
            <a:ext cx="2423160" cy="1059790"/>
          </a:xfrm>
          <a:prstGeom prst="roundRect">
            <a:avLst>
              <a:gd name="adj" fmla="val 0"/>
            </a:avLst>
          </a:prstGeom>
          <a:solidFill>
            <a:srgbClr val="EDF4FA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已有贡献</a:t>
            </a:r>
            <a:endParaRPr sz="14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重点：提升整体规划能力</a:t>
            </a:r>
            <a:endParaRPr sz="11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347472" y="3258160"/>
            <a:ext cx="2423160" cy="137251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不足</a:t>
            </a:r>
            <a:endParaRPr sz="14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两个都能完成任务的模型，纵向、横向、交互行为差异难以系统说明</a:t>
            </a:r>
            <a:endParaRPr sz="114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3127248" y="912724"/>
            <a:ext cx="278892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3127248" y="912724"/>
            <a:ext cx="2788920" cy="469087"/>
          </a:xfrm>
          <a:prstGeom prst="roundRect">
            <a:avLst>
              <a:gd name="adj" fmla="val 0"/>
            </a:avLst>
          </a:prstGeom>
          <a:solidFill>
            <a:srgbClr val="347F70"/>
          </a:solidFill>
          <a:ln w="9525">
            <a:solidFill>
              <a:srgbClr val="34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3255264" y="999592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200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3657600" y="1016965"/>
            <a:ext cx="2167127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闭环评价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3291840" y="1546860"/>
            <a:ext cx="2459736" cy="469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nuPlan、Bench2Drive</a:t>
            </a:r>
            <a:endParaRPr sz="1275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NAVSIM</a:t>
            </a:r>
            <a:endParaRPr sz="1275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3310128" y="2007260"/>
            <a:ext cx="2423160" cy="1059790"/>
          </a:xfrm>
          <a:prstGeom prst="roundRect">
            <a:avLst>
              <a:gd name="adj" fmla="val 0"/>
            </a:avLst>
          </a:prstGeom>
          <a:solidFill>
            <a:srgbClr val="EEF7F3"/>
          </a:solidFill>
          <a:ln w="9525">
            <a:solidFill>
              <a:srgbClr val="34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已有贡献</a:t>
            </a:r>
            <a:endParaRPr sz="14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重点：安全、效率与任务完成</a:t>
            </a:r>
            <a:endParaRPr sz="11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3310128" y="3258160"/>
            <a:ext cx="2423160" cy="137251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34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不足</a:t>
            </a:r>
            <a:endParaRPr sz="14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重点仍是一个模型能否开好，而非两个版本之间是否发生系统性行为漂移</a:t>
            </a:r>
            <a:endParaRPr sz="114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6089904" y="912724"/>
            <a:ext cx="278892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6089904" y="912724"/>
            <a:ext cx="2788920" cy="469087"/>
          </a:xfrm>
          <a:prstGeom prst="roundRect">
            <a:avLst>
              <a:gd name="adj" fmla="val 0"/>
            </a:avLst>
          </a:prstGeom>
          <a:solidFill>
            <a:srgbClr val="BB7E28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Oval 19"/>
          <p:cNvSpPr>
            <a:spLocks noGrp="1"/>
          </p:cNvSpPr>
          <p:nvPr/>
        </p:nvSpPr>
        <p:spPr>
          <a:xfrm>
            <a:off x="6217920" y="999592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20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6620256" y="1016965"/>
            <a:ext cx="2167127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人工行为特征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6254496" y="1546860"/>
            <a:ext cx="2459736" cy="3127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速度、加速度、jerk、THW等</a:t>
            </a:r>
            <a:endParaRPr sz="124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6272784" y="2007260"/>
            <a:ext cx="2423160" cy="1059790"/>
          </a:xfrm>
          <a:prstGeom prst="roundRect">
            <a:avLst>
              <a:gd name="adj" fmla="val 0"/>
            </a:avLst>
          </a:prstGeom>
          <a:solidFill>
            <a:srgbClr val="FFF5E9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已有贡献</a:t>
            </a:r>
            <a:endParaRPr sz="14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优势：物理含义明确，便于解释</a:t>
            </a:r>
            <a:endParaRPr sz="11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6272784" y="3258160"/>
            <a:ext cx="2423160" cy="137251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不足</a:t>
            </a:r>
            <a:endParaRPr sz="14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固定统计摘要可能丢失动作时序、响应延迟和复杂交互过程</a:t>
            </a:r>
            <a:endParaRPr sz="114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9052560" y="912724"/>
            <a:ext cx="297180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9052560" y="912724"/>
            <a:ext cx="2971800" cy="469087"/>
          </a:xfrm>
          <a:prstGeom prst="roundRect">
            <a:avLst>
              <a:gd name="adj" fmla="val 0"/>
            </a:avLst>
          </a:prstGeom>
          <a:solidFill>
            <a:srgbClr val="7950D6"/>
          </a:solidFill>
          <a:ln w="9525">
            <a:solidFill>
              <a:srgbClr val="795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" name="Oval 26"/>
          <p:cNvSpPr>
            <a:spLocks noGrp="1"/>
          </p:cNvSpPr>
          <p:nvPr/>
        </p:nvSpPr>
        <p:spPr>
          <a:xfrm>
            <a:off x="9180576" y="999592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7950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1200" b="1">
              <a:solidFill>
                <a:srgbClr val="7950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9582912" y="1016965"/>
            <a:ext cx="2350008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学习式行为表示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9217152" y="1546860"/>
            <a:ext cx="2642616" cy="3127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时序编码、高维行为向量</a:t>
            </a:r>
            <a:endParaRPr sz="124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Rounded Rectangle 29"/>
          <p:cNvSpPr>
            <a:spLocks noGrp="1"/>
          </p:cNvSpPr>
          <p:nvPr/>
        </p:nvSpPr>
        <p:spPr>
          <a:xfrm>
            <a:off x="9235440" y="2007260"/>
            <a:ext cx="2606040" cy="1059790"/>
          </a:xfrm>
          <a:prstGeom prst="roundRect">
            <a:avLst>
              <a:gd name="adj" fmla="val 0"/>
            </a:avLst>
          </a:prstGeom>
          <a:solidFill>
            <a:srgbClr val="F4F0FC"/>
          </a:solidFill>
          <a:ln w="9525">
            <a:solidFill>
              <a:srgbClr val="795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已有贡献</a:t>
            </a:r>
            <a:endParaRPr sz="14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优势：可能保留更丰富时序与交互信息</a:t>
            </a:r>
            <a:endParaRPr sz="11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9235440" y="3258160"/>
            <a:ext cx="2606040" cy="137251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795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不足</a:t>
            </a:r>
            <a:endParaRPr sz="14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整体向量可用于比较，但单独维度难以解释，且可能重复人工语义</a:t>
            </a:r>
            <a:endParaRPr sz="114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Rounded Rectangle 31"/>
          <p:cNvSpPr>
            <a:spLocks noGrp="1"/>
          </p:cNvSpPr>
          <p:nvPr/>
        </p:nvSpPr>
        <p:spPr>
          <a:xfrm>
            <a:off x="640080" y="5047640"/>
            <a:ext cx="10927080" cy="729691"/>
          </a:xfrm>
          <a:prstGeom prst="roundRect">
            <a:avLst>
              <a:gd name="adj" fmla="val 0"/>
            </a:avLst>
          </a:prstGeom>
          <a:solidFill>
            <a:srgbClr val="FFF3F3"/>
          </a:solidFill>
          <a:ln w="9525">
            <a:solidFill>
              <a:srgbClr val="E2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80" b="1">
                <a:solidFill>
                  <a:srgbClr val="E2373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本研究要补上的空白</a:t>
            </a:r>
            <a:endParaRPr sz="1580" b="1">
              <a:solidFill>
                <a:srgbClr val="E2373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0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如何判断版本间是否发生行为漂移、如何隔离场景因素、如何把统计显著转成物理可解释的工程结论。</a:t>
            </a:r>
            <a:endParaRPr sz="130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146304" y="6199632"/>
            <a:ext cx="11905488" cy="457200"/>
          </a:xfrm>
          <a:prstGeom prst="roundRect">
            <a:avLst>
              <a:gd name="adj" fmla="val 0"/>
            </a:avLst>
          </a:prstGeom>
          <a:solidFill>
            <a:srgbClr val="E8F0F8"/>
          </a:solidFill>
          <a:ln w="952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研究空白不是“缺一个新距离函数”，而是缺一套面向软件版本的行为测量与统计评价方法。</a:t>
            </a:r>
            <a:endParaRPr sz="13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0" y="0"/>
            <a:ext cx="12191362" cy="742950"/>
          </a:xfrm>
          <a:prstGeom prst="rect">
            <a:avLst/>
          </a:prstGeom>
          <a:solidFill>
            <a:srgbClr val="215B94"/>
          </a:solidFill>
          <a:ln w="0">
            <a:noFill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266700" y="47625"/>
            <a:ext cx="116586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  国内外研究现状</a:t>
            </a:r>
            <a:endParaRPr sz="21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66700" y="419100"/>
            <a:ext cx="116586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已有方法分别解决规划、闭环评价和行为表征，但缺少统一的版本行为漂移范式</a:t>
            </a:r>
            <a:endParaRPr sz="13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>
            <a:spLocks noGrp="1"/>
          </p:cNvSpPr>
          <p:nvPr/>
        </p:nvSpPr>
        <p:spPr>
          <a:xfrm>
            <a:off x="109728" y="73152"/>
            <a:ext cx="4892040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64592" anchor="ctr"/>
          <a:lstStyle/>
          <a:p>
            <a:pPr algn="l">
              <a:spcAft>
                <a:spcPts val="0"/>
              </a:spcAft>
              <a:buNone/>
              <a:defRPr sz="17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074920" y="73152"/>
            <a:ext cx="6967728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2880" anchor="ctr"/>
          <a:lstStyle/>
          <a:p>
            <a:pPr algn="l">
              <a:spcAft>
                <a:spcPts val="0"/>
              </a:spcAft>
              <a:buNone/>
              <a:defRPr sz="1070" b="0">
                <a:solidFill>
                  <a:srgbClr val="6D7A8E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128016" y="912724"/>
            <a:ext cx="2139696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128016" y="912724"/>
            <a:ext cx="2139696" cy="469087"/>
          </a:xfrm>
          <a:prstGeom prst="roundRect">
            <a:avLst>
              <a:gd name="adj" fmla="val 0"/>
            </a:avLst>
          </a:prstGeom>
          <a:solidFill>
            <a:srgbClr val="215B94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Oval 5"/>
          <p:cNvSpPr>
            <a:spLocks noGrp="1"/>
          </p:cNvSpPr>
          <p:nvPr/>
        </p:nvSpPr>
        <p:spPr>
          <a:xfrm>
            <a:off x="256032" y="999592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2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58368" y="1016965"/>
            <a:ext cx="1517903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数据输入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2395728" y="912724"/>
            <a:ext cx="2231136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2395728" y="912724"/>
            <a:ext cx="2231136" cy="469087"/>
          </a:xfrm>
          <a:prstGeom prst="roundRect">
            <a:avLst>
              <a:gd name="adj" fmla="val 0"/>
            </a:avLst>
          </a:prstGeom>
          <a:solidFill>
            <a:srgbClr val="BB7E28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Oval 9"/>
          <p:cNvSpPr>
            <a:spLocks noGrp="1"/>
          </p:cNvSpPr>
          <p:nvPr/>
        </p:nvSpPr>
        <p:spPr>
          <a:xfrm>
            <a:off x="2523744" y="999592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20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2926080" y="1016965"/>
            <a:ext cx="1609343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行为表示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4754880" y="912724"/>
            <a:ext cx="2176272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4754880" y="912724"/>
            <a:ext cx="2176272" cy="469087"/>
          </a:xfrm>
          <a:prstGeom prst="roundRect">
            <a:avLst>
              <a:gd name="adj" fmla="val 0"/>
            </a:avLst>
          </a:prstGeom>
          <a:solidFill>
            <a:srgbClr val="347F70"/>
          </a:solidFill>
          <a:ln w="9525">
            <a:solidFill>
              <a:srgbClr val="34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Oval 13"/>
          <p:cNvSpPr>
            <a:spLocks noGrp="1"/>
          </p:cNvSpPr>
          <p:nvPr/>
        </p:nvSpPr>
        <p:spPr>
          <a:xfrm>
            <a:off x="4882896" y="999592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200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5285232" y="1016965"/>
            <a:ext cx="1554479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行为漂移统计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7059168" y="912724"/>
            <a:ext cx="228600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7059168" y="912724"/>
            <a:ext cx="2286000" cy="469087"/>
          </a:xfrm>
          <a:prstGeom prst="roundRect">
            <a:avLst>
              <a:gd name="adj" fmla="val 0"/>
            </a:avLst>
          </a:prstGeom>
          <a:solidFill>
            <a:srgbClr val="7950D6"/>
          </a:solidFill>
          <a:ln w="9525">
            <a:solidFill>
              <a:srgbClr val="795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Oval 17"/>
          <p:cNvSpPr>
            <a:spLocks noGrp="1"/>
          </p:cNvSpPr>
          <p:nvPr/>
        </p:nvSpPr>
        <p:spPr>
          <a:xfrm>
            <a:off x="7187183" y="999592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7950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1200" b="1">
              <a:solidFill>
                <a:srgbClr val="7950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7589519" y="1016965"/>
            <a:ext cx="1664207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双模式评价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9473184" y="912724"/>
            <a:ext cx="2587752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9473184" y="912724"/>
            <a:ext cx="2587752" cy="469087"/>
          </a:xfrm>
          <a:prstGeom prst="roundRect">
            <a:avLst>
              <a:gd name="adj" fmla="val 0"/>
            </a:avLst>
          </a:prstGeom>
          <a:solidFill>
            <a:srgbClr val="08A0BF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Oval 21"/>
          <p:cNvSpPr>
            <a:spLocks noGrp="1"/>
          </p:cNvSpPr>
          <p:nvPr/>
        </p:nvSpPr>
        <p:spPr>
          <a:xfrm>
            <a:off x="9601200" y="999592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08A0B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</a:t>
            </a:r>
            <a:endParaRPr sz="1200" b="1">
              <a:solidFill>
                <a:srgbClr val="08A0B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10003536" y="1016965"/>
            <a:ext cx="1965960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结果解释与报告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320040" y="1503426"/>
            <a:ext cx="1783080" cy="2865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8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轨迹与场景上下文</a:t>
            </a:r>
            <a:endParaRPr sz="128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475488" y="2102814"/>
            <a:ext cx="502920" cy="191110"/>
          </a:xfrm>
          <a:prstGeom prst="roundRect">
            <a:avLst>
              <a:gd name="adj" fmla="val 0"/>
            </a:avLst>
          </a:prstGeom>
          <a:solidFill>
            <a:srgbClr val="21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Trapezoid 25"/>
          <p:cNvSpPr>
            <a:spLocks noGrp="1"/>
          </p:cNvSpPr>
          <p:nvPr/>
        </p:nvSpPr>
        <p:spPr>
          <a:xfrm>
            <a:off x="585216" y="1963826"/>
            <a:ext cx="274320" cy="208483"/>
          </a:xfrm>
          <a:prstGeom prst="trapezoid">
            <a:avLst/>
          </a:prstGeom>
          <a:solidFill>
            <a:srgbClr val="21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" name="Oval 26"/>
          <p:cNvSpPr>
            <a:spLocks noGrp="1"/>
          </p:cNvSpPr>
          <p:nvPr/>
        </p:nvSpPr>
        <p:spPr>
          <a:xfrm>
            <a:off x="548640" y="2259178"/>
            <a:ext cx="91440" cy="86868"/>
          </a:xfrm>
          <a:prstGeom prst="ellipse">
            <a:avLst/>
          </a:prstGeom>
          <a:solidFill>
            <a:srgbClr val="23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Oval 27"/>
          <p:cNvSpPr>
            <a:spLocks noGrp="1"/>
          </p:cNvSpPr>
          <p:nvPr/>
        </p:nvSpPr>
        <p:spPr>
          <a:xfrm>
            <a:off x="841248" y="2259178"/>
            <a:ext cx="91440" cy="86868"/>
          </a:xfrm>
          <a:prstGeom prst="ellipse">
            <a:avLst/>
          </a:prstGeom>
          <a:solidFill>
            <a:srgbClr val="23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1143000" y="1989887"/>
            <a:ext cx="777240" cy="4511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15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5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真实轨迹</a:t>
            </a:r>
            <a:endParaRPr sz="1150" b="1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Can 29"/>
          <p:cNvSpPr>
            <a:spLocks noGrp="1"/>
          </p:cNvSpPr>
          <p:nvPr/>
        </p:nvSpPr>
        <p:spPr>
          <a:xfrm>
            <a:off x="475488" y="2632710"/>
            <a:ext cx="530352" cy="590702"/>
          </a:xfrm>
          <a:prstGeom prst="can">
            <a:avLst/>
          </a:prstGeom>
          <a:solidFill>
            <a:srgbClr val="EDF4FA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1143000" y="2684831"/>
            <a:ext cx="868680" cy="2712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8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闭环仿真</a:t>
            </a:r>
            <a:endParaRPr sz="1180" b="1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Can 31"/>
          <p:cNvSpPr>
            <a:spLocks noGrp="1"/>
          </p:cNvSpPr>
          <p:nvPr/>
        </p:nvSpPr>
        <p:spPr>
          <a:xfrm>
            <a:off x="475488" y="3301594"/>
            <a:ext cx="530352" cy="590702"/>
          </a:xfrm>
          <a:prstGeom prst="can">
            <a:avLst/>
          </a:prstGeom>
          <a:solidFill>
            <a:srgbClr val="EDF4FA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1143000" y="3353714"/>
            <a:ext cx="868680" cy="2712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8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外部验证</a:t>
            </a:r>
            <a:endParaRPr sz="1180" b="1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Rounded Rectangle 33"/>
          <p:cNvSpPr>
            <a:spLocks noGrp="1"/>
          </p:cNvSpPr>
          <p:nvPr/>
        </p:nvSpPr>
        <p:spPr>
          <a:xfrm>
            <a:off x="329184" y="3918355"/>
            <a:ext cx="1755648" cy="1111910"/>
          </a:xfrm>
          <a:prstGeom prst="roundRect">
            <a:avLst>
              <a:gd name="adj" fmla="val 0"/>
            </a:avLst>
          </a:prstGeom>
          <a:solidFill>
            <a:srgbClr val="EDF4FA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轨迹窗口  X</a:t>
            </a:r>
            <a:endParaRPr sz="13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自车状态</a:t>
            </a:r>
            <a:endParaRPr sz="10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周车相对运动</a:t>
            </a:r>
            <a:endParaRPr sz="10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车道/场景信息</a:t>
            </a:r>
            <a:endParaRPr sz="10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2633472" y="1503426"/>
            <a:ext cx="1810512" cy="2865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8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融合语义与时序信息</a:t>
            </a:r>
            <a:endParaRPr sz="128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Rounded Rectangle 35"/>
          <p:cNvSpPr>
            <a:spLocks noGrp="1"/>
          </p:cNvSpPr>
          <p:nvPr/>
        </p:nvSpPr>
        <p:spPr>
          <a:xfrm>
            <a:off x="2615184" y="1894332"/>
            <a:ext cx="1792224" cy="1355141"/>
          </a:xfrm>
          <a:prstGeom prst="roundRect">
            <a:avLst>
              <a:gd name="adj" fmla="val 0"/>
            </a:avLst>
          </a:prstGeom>
          <a:solidFill>
            <a:srgbClr val="FFF5E9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7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已知语义分支</a:t>
            </a:r>
            <a:endParaRPr sz="137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速度 / 加速度 / jerk</a:t>
            </a:r>
            <a:endParaRPr sz="10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THW / 横向指标</a:t>
            </a:r>
            <a:endParaRPr sz="10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2615184" y="3414522"/>
            <a:ext cx="1792224" cy="1355141"/>
          </a:xfrm>
          <a:prstGeom prst="roundRect">
            <a:avLst>
              <a:gd name="adj" fmla="val 0"/>
            </a:avLst>
          </a:prstGeom>
          <a:solidFill>
            <a:srgbClr val="F4F0FC"/>
          </a:solidFill>
          <a:ln w="9525">
            <a:solidFill>
              <a:srgbClr val="795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70" b="1">
                <a:solidFill>
                  <a:srgbClr val="7950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学习式分支</a:t>
            </a:r>
            <a:endParaRPr sz="1370" b="1">
              <a:solidFill>
                <a:srgbClr val="7950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时序结构</a:t>
            </a:r>
            <a:endParaRPr sz="10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响应 / 交互模式</a:t>
            </a:r>
            <a:endParaRPr sz="10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2642616" y="4917338"/>
            <a:ext cx="1737360" cy="304038"/>
          </a:xfrm>
          <a:prstGeom prst="roundRect">
            <a:avLst>
              <a:gd name="adj" fmla="val 0"/>
            </a:avLst>
          </a:prstGeom>
          <a:solidFill>
            <a:srgbClr val="EFF8FA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5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融合行为表示 z</a:t>
            </a:r>
            <a:endParaRPr sz="1150" b="0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TextBox 38"/>
          <p:cNvSpPr>
            <a:spLocks noGrp="1"/>
          </p:cNvSpPr>
          <p:nvPr/>
        </p:nvSpPr>
        <p:spPr>
          <a:xfrm>
            <a:off x="4992624" y="1503426"/>
            <a:ext cx="1737360" cy="4815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任务条件下的分布比较</a:t>
            </a:r>
            <a:endParaRPr sz="12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5001768" y="1920392"/>
            <a:ext cx="1682496" cy="920801"/>
          </a:xfrm>
          <a:prstGeom prst="roundRect">
            <a:avLst>
              <a:gd name="adj" fmla="val 0"/>
            </a:avLst>
          </a:prstGeom>
          <a:solidFill>
            <a:srgbClr val="EEF7F3"/>
          </a:solidFill>
          <a:ln w="9525">
            <a:solidFill>
              <a:srgbClr val="34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BDD</a:t>
            </a:r>
            <a:endParaRPr sz="1400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0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Behavior Distribution Drift</a:t>
            </a:r>
            <a:endParaRPr sz="800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定义行为漂移评价问题</a:t>
            </a:r>
            <a:endParaRPr sz="104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Rounded Rectangle 40"/>
          <p:cNvSpPr>
            <a:spLocks noGrp="1"/>
          </p:cNvSpPr>
          <p:nvPr/>
        </p:nvSpPr>
        <p:spPr>
          <a:xfrm>
            <a:off x="5001768" y="3014929"/>
            <a:ext cx="1682496" cy="92080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34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MMD / MMD²</a:t>
            </a:r>
            <a:endParaRPr sz="135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主要分布统计量</a:t>
            </a:r>
            <a:endParaRPr sz="104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Rounded Rectangle 41"/>
          <p:cNvSpPr>
            <a:spLocks noGrp="1"/>
          </p:cNvSpPr>
          <p:nvPr/>
        </p:nvSpPr>
        <p:spPr>
          <a:xfrm>
            <a:off x="5001768" y="4109466"/>
            <a:ext cx="1682496" cy="92080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34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显著性检验</a:t>
            </a:r>
            <a:endParaRPr sz="135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零假设 / 背景波动</a:t>
            </a:r>
            <a:endParaRPr sz="104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TextBox 42"/>
          <p:cNvSpPr>
            <a:spLocks noGrp="1"/>
          </p:cNvSpPr>
          <p:nvPr/>
        </p:nvSpPr>
        <p:spPr>
          <a:xfrm>
            <a:off x="7333488" y="1503426"/>
            <a:ext cx="1874519" cy="2865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8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归因分析与版本监控</a:t>
            </a:r>
            <a:endParaRPr sz="128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Rounded Rectangle 43"/>
          <p:cNvSpPr>
            <a:spLocks noGrp="1"/>
          </p:cNvSpPr>
          <p:nvPr/>
        </p:nvSpPr>
        <p:spPr>
          <a:xfrm>
            <a:off x="7315200" y="1937766"/>
            <a:ext cx="1828800" cy="1407262"/>
          </a:xfrm>
          <a:prstGeom prst="roundRect">
            <a:avLst>
              <a:gd name="adj" fmla="val 0"/>
            </a:avLst>
          </a:prstGeom>
          <a:solidFill>
            <a:srgbClr val="F4F0FC"/>
          </a:solidFill>
          <a:ln w="9525">
            <a:solidFill>
              <a:srgbClr val="795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70" b="1">
                <a:solidFill>
                  <a:srgbClr val="7950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同场景配对归因</a:t>
            </a:r>
            <a:endParaRPr sz="1370" b="1">
              <a:solidFill>
                <a:srgbClr val="7950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相同初始场景</a:t>
            </a:r>
            <a:endParaRPr sz="101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配对标签随机化检验</a:t>
            </a:r>
            <a:endParaRPr sz="101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回答：策略改变是否导致行为改变</a:t>
            </a:r>
            <a:endParaRPr sz="101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Rounded Rectangle 44"/>
          <p:cNvSpPr>
            <a:spLocks noGrp="1"/>
          </p:cNvSpPr>
          <p:nvPr/>
        </p:nvSpPr>
        <p:spPr>
          <a:xfrm>
            <a:off x="7315200" y="3588258"/>
            <a:ext cx="1828800" cy="1580998"/>
          </a:xfrm>
          <a:prstGeom prst="roundRect">
            <a:avLst>
              <a:gd name="adj" fmla="val 0"/>
            </a:avLst>
          </a:prstGeom>
          <a:solidFill>
            <a:srgbClr val="F4F0FC"/>
          </a:solidFill>
          <a:ln w="9525">
            <a:solidFill>
              <a:srgbClr val="795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70" b="1">
                <a:solidFill>
                  <a:srgbClr val="7950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异场景版本监控</a:t>
            </a:r>
            <a:endParaRPr sz="1370" b="1">
              <a:solidFill>
                <a:srgbClr val="7950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日志互斥</a:t>
            </a:r>
            <a:endParaRPr sz="9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场景控制 / 场景平衡</a:t>
            </a:r>
            <a:endParaRPr sz="9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基准软件</a:t>
            </a:r>
            <a:r>
              <a:rPr sz="9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内部A/A背景标定</a:t>
            </a:r>
            <a:endParaRPr sz="9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回答：新版是否超出正常波动</a:t>
            </a:r>
            <a:endParaRPr sz="9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TextBox 45"/>
          <p:cNvSpPr>
            <a:spLocks noGrp="1"/>
          </p:cNvSpPr>
          <p:nvPr/>
        </p:nvSpPr>
        <p:spPr>
          <a:xfrm>
            <a:off x="9802368" y="1503426"/>
            <a:ext cx="1901952" cy="2865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8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从统计结果到工程结论</a:t>
            </a:r>
            <a:endParaRPr sz="128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Rounded Rectangle 46"/>
          <p:cNvSpPr>
            <a:spLocks noGrp="1"/>
          </p:cNvSpPr>
          <p:nvPr/>
        </p:nvSpPr>
        <p:spPr>
          <a:xfrm>
            <a:off x="9838944" y="1937766"/>
            <a:ext cx="1874519" cy="30403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总体漂移程度</a:t>
            </a:r>
            <a:endParaRPr sz="1120" b="0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Rounded Rectangle 47"/>
          <p:cNvSpPr>
            <a:spLocks noGrp="1"/>
          </p:cNvSpPr>
          <p:nvPr/>
        </p:nvSpPr>
        <p:spPr>
          <a:xfrm>
            <a:off x="9838944" y="2563216"/>
            <a:ext cx="1874519" cy="30403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分场景BDD</a:t>
            </a:r>
            <a:endParaRPr sz="1120" b="0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Rounded Rectangle 48"/>
          <p:cNvSpPr>
            <a:spLocks noGrp="1"/>
          </p:cNvSpPr>
          <p:nvPr/>
        </p:nvSpPr>
        <p:spPr>
          <a:xfrm>
            <a:off x="9838944" y="3188665"/>
            <a:ext cx="1874519" cy="30403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物理语义变化</a:t>
            </a:r>
            <a:endParaRPr sz="1120" b="0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Rounded Rectangle 49"/>
          <p:cNvSpPr>
            <a:spLocks noGrp="1"/>
          </p:cNvSpPr>
          <p:nvPr/>
        </p:nvSpPr>
        <p:spPr>
          <a:xfrm>
            <a:off x="9838944" y="3814114"/>
            <a:ext cx="1874519" cy="30403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代表性案例回放</a:t>
            </a:r>
            <a:endParaRPr sz="1120" b="0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Rounded Rectangle 50"/>
          <p:cNvSpPr>
            <a:spLocks noGrp="1"/>
          </p:cNvSpPr>
          <p:nvPr/>
        </p:nvSpPr>
        <p:spPr>
          <a:xfrm>
            <a:off x="9838944" y="4439564"/>
            <a:ext cx="1874519" cy="30403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版本行为报告卡</a:t>
            </a:r>
            <a:endParaRPr sz="1120" b="0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9784080" y="5047640"/>
            <a:ext cx="1920240" cy="38221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1">
                <a:solidFill>
                  <a:srgbClr val="08A0B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支持研发、测试与版本决策</a:t>
            </a:r>
            <a:endParaRPr sz="1080" b="1">
              <a:solidFill>
                <a:srgbClr val="08A0B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Connector 52"/>
          <p:cNvSpPr>
            <a:spLocks noGrp="1"/>
          </p:cNvSpPr>
          <p:nvPr/>
        </p:nvSpPr>
        <p:spPr>
          <a:xfrm>
            <a:off x="2276856" y="3431896"/>
            <a:ext cx="128016" cy="0"/>
          </a:xfrm>
          <a:prstGeom prst="line">
            <a:avLst/>
          </a:prstGeom>
          <a:ln w="25400">
            <a:solidFill>
              <a:srgbClr val="9BAD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4" name="Connector 53"/>
          <p:cNvSpPr>
            <a:spLocks noGrp="1"/>
          </p:cNvSpPr>
          <p:nvPr/>
        </p:nvSpPr>
        <p:spPr>
          <a:xfrm>
            <a:off x="4636008" y="3431896"/>
            <a:ext cx="128016" cy="0"/>
          </a:xfrm>
          <a:prstGeom prst="line">
            <a:avLst/>
          </a:prstGeom>
          <a:ln w="25400">
            <a:solidFill>
              <a:srgbClr val="9BAD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5" name="Connector 54"/>
          <p:cNvSpPr>
            <a:spLocks noGrp="1"/>
          </p:cNvSpPr>
          <p:nvPr/>
        </p:nvSpPr>
        <p:spPr>
          <a:xfrm>
            <a:off x="6940296" y="3431896"/>
            <a:ext cx="128016" cy="0"/>
          </a:xfrm>
          <a:prstGeom prst="line">
            <a:avLst/>
          </a:prstGeom>
          <a:ln w="25400">
            <a:solidFill>
              <a:srgbClr val="9BAD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6" name="Connector 55"/>
          <p:cNvSpPr>
            <a:spLocks noGrp="1"/>
          </p:cNvSpPr>
          <p:nvPr/>
        </p:nvSpPr>
        <p:spPr>
          <a:xfrm>
            <a:off x="9354312" y="3431896"/>
            <a:ext cx="128016" cy="0"/>
          </a:xfrm>
          <a:prstGeom prst="line">
            <a:avLst/>
          </a:prstGeom>
          <a:ln w="25400">
            <a:solidFill>
              <a:srgbClr val="9BAD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7" name="Rounded Rectangle 56"/>
          <p:cNvSpPr>
            <a:spLocks noGrp="1"/>
          </p:cNvSpPr>
          <p:nvPr/>
        </p:nvSpPr>
        <p:spPr>
          <a:xfrm>
            <a:off x="146304" y="6199632"/>
            <a:ext cx="11905488" cy="457200"/>
          </a:xfrm>
          <a:prstGeom prst="roundRect">
            <a:avLst>
              <a:gd name="adj" fmla="val 0"/>
            </a:avLst>
          </a:prstGeom>
          <a:solidFill>
            <a:srgbClr val="E8F0F8"/>
          </a:solidFill>
          <a:ln w="952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总体目标：建立端到端规划策略行为变化的可检测、可归因、可解释、可复现评价方法体系。</a:t>
            </a:r>
            <a:endParaRPr sz="13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0" y="0"/>
            <a:ext cx="12191362" cy="742950"/>
          </a:xfrm>
          <a:prstGeom prst="rect">
            <a:avLst/>
          </a:prstGeom>
          <a:solidFill>
            <a:srgbClr val="215B94"/>
          </a:solidFill>
          <a:ln w="0">
            <a:noFill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266700" y="47625"/>
            <a:ext cx="116586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  端到端驾驶策略行为漂移评估总体框架</a:t>
            </a:r>
            <a:endParaRPr sz="21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266700" y="419100"/>
            <a:ext cx="116586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从数据到报告：行为变化的可检测、可归因、可解释、可复现评价</a:t>
            </a:r>
            <a:endParaRPr sz="13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>
            <a:spLocks noGrp="1"/>
          </p:cNvSpPr>
          <p:nvPr/>
        </p:nvSpPr>
        <p:spPr>
          <a:xfrm>
            <a:off x="109728" y="73152"/>
            <a:ext cx="4892040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64592" anchor="ctr"/>
          <a:lstStyle/>
          <a:p>
            <a:pPr algn="l">
              <a:spcAft>
                <a:spcPts val="0"/>
              </a:spcAft>
              <a:buNone/>
              <a:defRPr sz="17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074920" y="73152"/>
            <a:ext cx="6967728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2880" anchor="ctr"/>
          <a:lstStyle/>
          <a:p>
            <a:pPr algn="l">
              <a:spcAft>
                <a:spcPts val="0"/>
              </a:spcAft>
              <a:buNone/>
              <a:defRPr sz="1070" b="0">
                <a:solidFill>
                  <a:srgbClr val="6D7A8E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201168" y="964844"/>
            <a:ext cx="347472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201168" y="964844"/>
            <a:ext cx="3474720" cy="469087"/>
          </a:xfrm>
          <a:prstGeom prst="roundRect">
            <a:avLst>
              <a:gd name="adj" fmla="val 0"/>
            </a:avLst>
          </a:prstGeom>
          <a:solidFill>
            <a:srgbClr val="215B94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Oval 5"/>
          <p:cNvSpPr>
            <a:spLocks noGrp="1"/>
          </p:cNvSpPr>
          <p:nvPr/>
        </p:nvSpPr>
        <p:spPr>
          <a:xfrm>
            <a:off x="329184" y="1051712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2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731519" y="1069086"/>
            <a:ext cx="2852927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统一轨迹窗口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38912" y="2068067"/>
            <a:ext cx="2971800" cy="2275942"/>
          </a:xfrm>
          <a:prstGeom prst="roundRect">
            <a:avLst>
              <a:gd name="adj" fmla="val 0"/>
            </a:avLst>
          </a:prstGeom>
          <a:solidFill>
            <a:srgbClr val="EDF4FA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每个时刻 </a:t>
            </a:r>
            <a:r>
              <a:rPr sz="14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Xt</a:t>
            </a:r>
            <a:r>
              <a:rPr sz="14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可以包含</a:t>
            </a:r>
            <a:endParaRPr sz="14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自车：位置、速度、加速度、航向等</a:t>
            </a:r>
            <a:endParaRPr sz="11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周车：相对位置、相对速度、身份关系</a:t>
            </a:r>
            <a:endParaRPr sz="11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道路：车道结构、目标车道、局部拓扑</a:t>
            </a:r>
            <a:endParaRPr sz="11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场景：跟车、变道、启停等上下文</a:t>
            </a:r>
            <a:endParaRPr sz="11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457200" y="4674108"/>
            <a:ext cx="2926080" cy="4511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8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核心不是“单条轨迹线”，而是连续时间内的车辆—环境上下文。</a:t>
            </a:r>
            <a:endParaRPr sz="118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3913632" y="964844"/>
            <a:ext cx="370332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3913632" y="964844"/>
            <a:ext cx="3703320" cy="469087"/>
          </a:xfrm>
          <a:prstGeom prst="roundRect">
            <a:avLst>
              <a:gd name="adj" fmla="val 0"/>
            </a:avLst>
          </a:prstGeom>
          <a:solidFill>
            <a:srgbClr val="BB7E28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4041648" y="1051712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20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4443984" y="1069086"/>
            <a:ext cx="3081527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需要统一的数据接口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4160520" y="1633728"/>
            <a:ext cx="3200400" cy="3370478"/>
          </a:xfrm>
          <a:prstGeom prst="roundRect">
            <a:avLst>
              <a:gd name="adj" fmla="val 0"/>
            </a:avLst>
          </a:prstGeom>
          <a:solidFill>
            <a:srgbClr val="FFF5E9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4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必须解决的问题</a:t>
            </a:r>
            <a:endParaRPr sz="144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不同采样频率与时间对齐</a:t>
            </a:r>
            <a:endParaRPr sz="11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统一坐标系和单位</a:t>
            </a:r>
            <a:endParaRPr sz="11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周车进入 / 离开与身份切换</a:t>
            </a:r>
            <a:endParaRPr sz="11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前车切换、间歇跟车与缺失轨迹</a:t>
            </a:r>
            <a:endParaRPr sz="11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有效窗口、异常数据和无效样本规则</a:t>
            </a:r>
            <a:endParaRPr sz="11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训练 / 验证 / 测试按原始场景划分，避免相邻窗口泄漏</a:t>
            </a:r>
            <a:endParaRPr sz="11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7863840" y="964844"/>
            <a:ext cx="411480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7863840" y="964844"/>
            <a:ext cx="4114800" cy="469087"/>
          </a:xfrm>
          <a:prstGeom prst="roundRect">
            <a:avLst>
              <a:gd name="adj" fmla="val 0"/>
            </a:avLst>
          </a:prstGeom>
          <a:solidFill>
            <a:srgbClr val="08A0BF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Oval 17"/>
          <p:cNvSpPr>
            <a:spLocks noGrp="1"/>
          </p:cNvSpPr>
          <p:nvPr/>
        </p:nvSpPr>
        <p:spPr>
          <a:xfrm>
            <a:off x="7991856" y="1051712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08A0B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200" b="1">
              <a:solidFill>
                <a:srgbClr val="08A0B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8394192" y="1069086"/>
            <a:ext cx="3493008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三个数据来源的角色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8119872" y="1572920"/>
            <a:ext cx="3611880" cy="1007669"/>
          </a:xfrm>
          <a:prstGeom prst="roundRect">
            <a:avLst>
              <a:gd name="adj" fmla="val 0"/>
            </a:avLst>
          </a:prstGeom>
          <a:solidFill>
            <a:srgbClr val="EFF8FA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1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公开真实轨迹</a:t>
            </a:r>
            <a:endParaRPr sz="141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3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Waymo：学习真实驾驶行为的时序与交互结构</a:t>
            </a:r>
            <a:endParaRPr sz="113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8119872" y="2763012"/>
            <a:ext cx="3611880" cy="1007669"/>
          </a:xfrm>
          <a:prstGeom prst="roundRect">
            <a:avLst>
              <a:gd name="adj" fmla="val 0"/>
            </a:avLst>
          </a:prstGeom>
          <a:solidFill>
            <a:srgbClr val="EFF8FA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1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闭环仿真轨迹</a:t>
            </a:r>
            <a:endParaRPr sz="141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3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nuPlan等：在同一初始场景下做策略受控比较</a:t>
            </a:r>
            <a:endParaRPr sz="113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8119872" y="3953104"/>
            <a:ext cx="3611880" cy="1007669"/>
          </a:xfrm>
          <a:prstGeom prst="roundRect">
            <a:avLst>
              <a:gd name="adj" fmla="val 0"/>
            </a:avLst>
          </a:prstGeom>
          <a:solidFill>
            <a:srgbClr val="EFF8FA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1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外部验证数据</a:t>
            </a:r>
            <a:endParaRPr sz="141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3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检查表示与BDD是否只对单一数据集有效</a:t>
            </a:r>
            <a:endParaRPr sz="113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146304" y="6199632"/>
            <a:ext cx="11905488" cy="457200"/>
          </a:xfrm>
          <a:prstGeom prst="roundRect">
            <a:avLst>
              <a:gd name="adj" fmla="val 0"/>
            </a:avLst>
          </a:prstGeom>
          <a:solidFill>
            <a:srgbClr val="E8F0F8"/>
          </a:solidFill>
          <a:ln w="952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这一模块的目标：把真实轨迹、闭环仿真和外部数据统一到同一个“轨迹级行为测量接口”。</a:t>
            </a:r>
            <a:endParaRPr sz="13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1362" cy="742950"/>
          </a:xfrm>
          <a:prstGeom prst="rect">
            <a:avLst/>
          </a:prstGeom>
          <a:solidFill>
            <a:srgbClr val="215B94"/>
          </a:solidFill>
          <a:ln w="0">
            <a:noFill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66700" y="47625"/>
            <a:ext cx="116586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  模块一：数据输入与统一轨迹建模</a:t>
            </a:r>
            <a:endParaRPr sz="21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66700" y="419100"/>
            <a:ext cx="116586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先解决“不同数据源能否进入同一行为分析接口”</a:t>
            </a:r>
            <a:endParaRPr sz="13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52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20825"/>
            <a:ext cx="2461895" cy="460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>
            <a:spLocks noGrp="1"/>
          </p:cNvSpPr>
          <p:nvPr/>
        </p:nvSpPr>
        <p:spPr>
          <a:xfrm>
            <a:off x="109728" y="73152"/>
            <a:ext cx="4892040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64592" anchor="ctr"/>
          <a:lstStyle/>
          <a:p>
            <a:pPr algn="l">
              <a:spcAft>
                <a:spcPts val="0"/>
              </a:spcAft>
              <a:buNone/>
              <a:defRPr sz="17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074920" y="73152"/>
            <a:ext cx="6967728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2880" anchor="ctr"/>
          <a:lstStyle/>
          <a:p>
            <a:pPr algn="l">
              <a:spcAft>
                <a:spcPts val="0"/>
              </a:spcAft>
              <a:buNone/>
              <a:defRPr sz="1070" b="0">
                <a:solidFill>
                  <a:srgbClr val="6D7A8E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3246120" y="1008278"/>
            <a:ext cx="5715000" cy="538582"/>
          </a:xfrm>
          <a:prstGeom prst="roundRect">
            <a:avLst>
              <a:gd name="adj" fmla="val 0"/>
            </a:avLst>
          </a:prstGeom>
          <a:solidFill>
            <a:srgbClr val="215B94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轨迹上下文 X</a:t>
            </a:r>
            <a:endParaRPr sz="1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Connector 4"/>
          <p:cNvSpPr>
            <a:spLocks noGrp="1"/>
          </p:cNvSpPr>
          <p:nvPr/>
        </p:nvSpPr>
        <p:spPr>
          <a:xfrm>
            <a:off x="6099048" y="1546860"/>
            <a:ext cx="0" cy="286664"/>
          </a:xfrm>
          <a:prstGeom prst="line">
            <a:avLst/>
          </a:prstGeom>
          <a:ln w="17780">
            <a:solidFill>
              <a:srgbClr val="9BAD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594360" y="1903019"/>
            <a:ext cx="5120640" cy="3283610"/>
          </a:xfrm>
          <a:prstGeom prst="roundRect">
            <a:avLst>
              <a:gd name="adj" fmla="val 0"/>
            </a:avLst>
          </a:prstGeom>
          <a:solidFill>
            <a:srgbClr val="FFF5E9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已知语义分支：回答“行为向什么方向变化”</a:t>
            </a:r>
            <a:endParaRPr sz="172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纵向：速度、加速度、jerk</a:t>
            </a:r>
            <a:endParaRPr sz="12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跟车：THW、距离、相对速度</a:t>
            </a:r>
            <a:endParaRPr sz="12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横向：横向加速度、横摆角速度、变道持续时间</a:t>
            </a:r>
            <a:endParaRPr sz="12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优势：物理意义明确、工程人员直接可读</a:t>
            </a:r>
            <a:endParaRPr sz="12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不足：多数是时间窗统计摘要，可能丢失过程信息</a:t>
            </a:r>
            <a:endParaRPr sz="12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473952" y="1903019"/>
            <a:ext cx="5120640" cy="3283610"/>
          </a:xfrm>
          <a:prstGeom prst="roundRect">
            <a:avLst>
              <a:gd name="adj" fmla="val 0"/>
            </a:avLst>
          </a:prstGeom>
          <a:solidFill>
            <a:srgbClr val="F4F0FC"/>
          </a:solidFill>
          <a:ln w="9525">
            <a:solidFill>
              <a:srgbClr val="795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0" b="1">
                <a:solidFill>
                  <a:srgbClr val="7950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学习式分支：探索人工摘要之外的时序与交互信息</a:t>
            </a:r>
            <a:endParaRPr sz="1720" b="1">
              <a:solidFill>
                <a:srgbClr val="7950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动作什么时候开始、持续多久、何时结束</a:t>
            </a:r>
            <a:endParaRPr sz="12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前车变化后自车响应是提前还是滞后</a:t>
            </a:r>
            <a:endParaRPr sz="12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变道过程是否连续、横纵向是否耦合</a:t>
            </a:r>
            <a:endParaRPr sz="12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自车与邻车之间的动态交互模式</a:t>
            </a:r>
            <a:endParaRPr sz="12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是否真正提供新增信息，必须通过受控实验和消融验证</a:t>
            </a:r>
            <a:endParaRPr sz="12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Connector 7"/>
          <p:cNvSpPr>
            <a:spLocks noGrp="1"/>
          </p:cNvSpPr>
          <p:nvPr/>
        </p:nvSpPr>
        <p:spPr>
          <a:xfrm>
            <a:off x="4114800" y="5186629"/>
            <a:ext cx="960120" cy="399593"/>
          </a:xfrm>
          <a:prstGeom prst="line">
            <a:avLst/>
          </a:prstGeom>
          <a:ln w="17780">
            <a:solidFill>
              <a:srgbClr val="9BAD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Connector 8"/>
          <p:cNvSpPr>
            <a:spLocks noGrp="1"/>
          </p:cNvSpPr>
          <p:nvPr/>
        </p:nvSpPr>
        <p:spPr>
          <a:xfrm flipH="1">
            <a:off x="7114032" y="5186629"/>
            <a:ext cx="1920240" cy="399593"/>
          </a:xfrm>
          <a:prstGeom prst="line">
            <a:avLst/>
          </a:prstGeom>
          <a:ln w="17780">
            <a:solidFill>
              <a:srgbClr val="9BAD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4224528" y="5438546"/>
            <a:ext cx="3840480" cy="304038"/>
          </a:xfrm>
          <a:prstGeom prst="roundRect">
            <a:avLst>
              <a:gd name="adj" fmla="val 0"/>
            </a:avLst>
          </a:prstGeom>
          <a:solidFill>
            <a:srgbClr val="EFF8FA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0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融合行为表示  z = [已知语义 ; 学习式表示]</a:t>
            </a:r>
            <a:endParaRPr sz="1300" b="0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146304" y="6199632"/>
            <a:ext cx="11905488" cy="457200"/>
          </a:xfrm>
          <a:prstGeom prst="roundRect">
            <a:avLst>
              <a:gd name="adj" fmla="val 0"/>
            </a:avLst>
          </a:prstGeom>
          <a:solidFill>
            <a:srgbClr val="E8F0F8"/>
          </a:solidFill>
          <a:ln w="952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评价标准不是“64维比13维大”，而是：学习式表示是否保留已知语义，并补充人工摘要之外的有效信息。</a:t>
            </a:r>
            <a:endParaRPr sz="13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1362" cy="742950"/>
          </a:xfrm>
          <a:prstGeom prst="rect">
            <a:avLst/>
          </a:prstGeom>
          <a:solidFill>
            <a:srgbClr val="215B94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66700" y="47625"/>
            <a:ext cx="116586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</a:t>
            </a:r>
            <a:r>
              <a: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.1</a:t>
            </a:r>
            <a:r>
              <a: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模块二：行为表示</a:t>
            </a:r>
            <a:endParaRPr sz="21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66700" y="419100"/>
            <a:ext cx="116586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不是“人工特征 vs 高维向量二选一”，而是利用两者互补优势</a:t>
            </a:r>
            <a:endParaRPr sz="13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5" name="矩形 74"/>
          <p:cNvSpPr>
            <a:spLocks noGrp="1"/>
          </p:cNvSpPr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215B94"/>
          </a:solidFill>
          <a:ln w="11430">
            <a:solidFill>
              <a:srgbClr val="215B94"/>
            </a:solidFill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419100" y="68580"/>
            <a:ext cx="11353800" cy="36576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3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</a:t>
            </a:r>
            <a:r>
              <a:rPr sz="23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.2</a:t>
            </a:r>
            <a:r>
              <a:rPr sz="23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模块二：行为表示</a:t>
            </a:r>
            <a:endParaRPr sz="234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19100" y="434340"/>
            <a:ext cx="11353800" cy="22860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融合人工可解释语义与候选时序交互残差信息</a:t>
            </a:r>
            <a:endParaRPr sz="15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883920"/>
            <a:ext cx="6400800" cy="1143000"/>
          </a:xfrm>
          <a:prstGeom prst="rect">
            <a:avLst/>
          </a:prstGeom>
          <a:solidFill>
            <a:srgbClr val="EDF4FA"/>
          </a:solidFill>
          <a:ln w="11430">
            <a:solidFill>
              <a:srgbClr val="9DBBD6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60120"/>
            <a:ext cx="6096000" cy="28956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74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4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轨迹上下文输入  X = {xₜ}，t = 1, …, T</a:t>
            </a:r>
            <a:endParaRPr sz="174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303020"/>
            <a:ext cx="6096000" cy="22860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自车运动 + 周车相对运动 + 车道 / 地图信息 + 交通场景上下文</a:t>
            </a:r>
            <a:endParaRPr sz="13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630680"/>
            <a:ext cx="6096000" cy="26670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68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8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x₁        x₂        x₃        …        xＴ</a:t>
            </a:r>
            <a:endParaRPr sz="1680" b="0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86600" y="883920"/>
            <a:ext cx="4648200" cy="1143000"/>
          </a:xfrm>
          <a:prstGeom prst="rect">
            <a:avLst/>
          </a:prstGeom>
          <a:solidFill>
            <a:srgbClr val="F6F8FA"/>
          </a:solidFill>
          <a:ln w="11430">
            <a:solidFill>
              <a:srgbClr val="C9D4DE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239000" y="967740"/>
            <a:ext cx="4343400" cy="25146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6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输入内容示例</a:t>
            </a:r>
            <a:endParaRPr sz="16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0" y="1272540"/>
            <a:ext cx="4343400" cy="67056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3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自车 / 周车：位置、速度、加速度、航向角</a:t>
            </a:r>
            <a:endParaRPr sz="13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buNone/>
              <a:defRPr sz="13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车道 / 路网：车道线、路口、限速</a:t>
            </a:r>
            <a:endParaRPr sz="13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buNone/>
              <a:defRPr sz="13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场景上下文：道路类型、交通密度、天气、时间</a:t>
            </a:r>
            <a:endParaRPr sz="13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5791200" y="2026920"/>
            <a:ext cx="0" cy="259080"/>
          </a:xfrm>
          <a:prstGeom prst="line">
            <a:avLst/>
          </a:prstGeom>
          <a:noFill/>
          <a:ln w="22860">
            <a:solidFill>
              <a:srgbClr val="215B94"/>
            </a:solidFill>
            <a:prstDash val="solid"/>
          </a:ln>
        </p:spPr>
      </p:sp>
      <p:sp>
        <p:nvSpPr>
          <p:cNvPr id="12" name="等腰三角形 11"/>
          <p:cNvSpPr>
            <a:spLocks noGrp="1"/>
          </p:cNvSpPr>
          <p:nvPr/>
        </p:nvSpPr>
        <p:spPr>
          <a:xfrm rot="10800000">
            <a:off x="5737860" y="2194560"/>
            <a:ext cx="106680" cy="91440"/>
          </a:xfrm>
          <a:prstGeom prst="triangle">
            <a:avLst/>
          </a:prstGeom>
          <a:solidFill>
            <a:srgbClr val="215B94"/>
          </a:solidFill>
          <a:ln w="0">
            <a:noFill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1905000" y="2026920"/>
            <a:ext cx="0" cy="1303020"/>
          </a:xfrm>
          <a:prstGeom prst="line">
            <a:avLst/>
          </a:prstGeom>
          <a:noFill/>
          <a:ln w="22860">
            <a:solidFill>
              <a:srgbClr val="BB7E28"/>
            </a:solidFill>
            <a:prstDash val="solid"/>
          </a:ln>
        </p:spPr>
      </p:sp>
      <p:sp>
        <p:nvSpPr>
          <p:cNvPr id="14" name="等腰三角形 13"/>
          <p:cNvSpPr>
            <a:spLocks noGrp="1"/>
          </p:cNvSpPr>
          <p:nvPr/>
        </p:nvSpPr>
        <p:spPr>
          <a:xfrm rot="10800000">
            <a:off x="1851660" y="3238500"/>
            <a:ext cx="106680" cy="91440"/>
          </a:xfrm>
          <a:prstGeom prst="triangle">
            <a:avLst/>
          </a:prstGeom>
          <a:solidFill>
            <a:srgbClr val="BB7E28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16280" y="2598420"/>
            <a:ext cx="2362200" cy="266700"/>
          </a:xfrm>
          <a:prstGeom prst="rect">
            <a:avLst/>
          </a:prstGeom>
          <a:solidFill>
            <a:srgbClr val="FFFFFF"/>
          </a:solidFill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44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4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轨迹直接计算</a:t>
            </a:r>
            <a:endParaRPr sz="144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267200" y="2286000"/>
            <a:ext cx="4572000" cy="762000"/>
          </a:xfrm>
          <a:prstGeom prst="rect">
            <a:avLst/>
          </a:prstGeom>
          <a:solidFill>
            <a:srgbClr val="7950D6"/>
          </a:solidFill>
          <a:ln w="11430">
            <a:solidFill>
              <a:srgbClr val="7950D6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419600" y="2362200"/>
            <a:ext cx="4267200" cy="28194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时序编码器  GRU / LSTM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419600" y="2712720"/>
            <a:ext cx="4267200" cy="22860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时序隐表示 h ∈ ℝᵈ（示例 d = 64）</a:t>
            </a:r>
            <a:endParaRPr sz="15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6095365" y="3048000"/>
            <a:ext cx="1270" cy="411480"/>
          </a:xfrm>
          <a:prstGeom prst="line">
            <a:avLst/>
          </a:prstGeom>
          <a:noFill/>
          <a:ln w="22860">
            <a:solidFill>
              <a:srgbClr val="79619C"/>
            </a:solidFill>
            <a:prstDash val="solid"/>
          </a:ln>
        </p:spPr>
      </p:sp>
      <p:sp>
        <p:nvSpPr>
          <p:cNvPr id="20" name="等腰三角形 19"/>
          <p:cNvSpPr>
            <a:spLocks noGrp="1"/>
          </p:cNvSpPr>
          <p:nvPr/>
        </p:nvSpPr>
        <p:spPr>
          <a:xfrm rot="10800000">
            <a:off x="6042660" y="3238500"/>
            <a:ext cx="106680" cy="91440"/>
          </a:xfrm>
          <a:prstGeom prst="triangle">
            <a:avLst/>
          </a:prstGeom>
          <a:solidFill>
            <a:srgbClr val="79619C"/>
          </a:solidFill>
          <a:ln w="0">
            <a:noFill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8839200" y="2667000"/>
            <a:ext cx="3025140" cy="0"/>
          </a:xfrm>
          <a:prstGeom prst="line">
            <a:avLst/>
          </a:prstGeom>
          <a:noFill/>
          <a:ln w="22860">
            <a:solidFill>
              <a:srgbClr val="79619C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11864340" y="2667000"/>
            <a:ext cx="0" cy="1882140"/>
          </a:xfrm>
          <a:prstGeom prst="line">
            <a:avLst/>
          </a:prstGeom>
          <a:noFill/>
          <a:ln w="22860">
            <a:solidFill>
              <a:srgbClr val="79619C"/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11468100" y="4549140"/>
            <a:ext cx="396240" cy="0"/>
          </a:xfrm>
          <a:prstGeom prst="line">
            <a:avLst/>
          </a:prstGeom>
          <a:noFill/>
          <a:ln w="22860">
            <a:solidFill>
              <a:srgbClr val="79619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1437620" y="2758440"/>
            <a:ext cx="327660" cy="21336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440" b="1">
                <a:solidFill>
                  <a:srgbClr val="7961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40" b="1">
                <a:solidFill>
                  <a:srgbClr val="7961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</a:t>
            </a:r>
            <a:endParaRPr sz="1440" b="1">
              <a:solidFill>
                <a:srgbClr val="79619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57200" y="3329940"/>
            <a:ext cx="3238500" cy="2087880"/>
          </a:xfrm>
          <a:prstGeom prst="rect">
            <a:avLst/>
          </a:prstGeom>
          <a:solidFill>
            <a:srgbClr val="FFF5E9"/>
          </a:solidFill>
          <a:ln w="11430">
            <a:solidFill>
              <a:srgbClr val="E2AE70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79120" y="3436620"/>
            <a:ext cx="2994660" cy="25908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50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人工语义计算（基于轨迹物理量）</a:t>
            </a:r>
            <a:endParaRPr sz="150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47700" y="3764280"/>
            <a:ext cx="2857500" cy="114300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4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纵向速度 / 加速度</a:t>
            </a:r>
            <a:endParaRPr sz="144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buNone/>
              <a:defRPr sz="14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RMS 加速度 / RMS jerk</a:t>
            </a:r>
            <a:endParaRPr sz="144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buNone/>
              <a:defRPr sz="14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车头时距 THW</a:t>
            </a:r>
            <a:endParaRPr sz="144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buNone/>
              <a:defRPr sz="14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横向运动 / 横摆角速度</a:t>
            </a:r>
            <a:endParaRPr sz="144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buNone/>
              <a:defRPr sz="14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车道保持 / 变道行为等</a:t>
            </a:r>
            <a:endParaRPr sz="144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79120" y="5067300"/>
            <a:ext cx="2994660" cy="24384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50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 = g(X) = z_known（13维）</a:t>
            </a:r>
            <a:endParaRPr sz="150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960620" y="3520440"/>
            <a:ext cx="2743200" cy="1211580"/>
          </a:xfrm>
          <a:prstGeom prst="rect">
            <a:avLst/>
          </a:prstGeom>
          <a:solidFill>
            <a:srgbClr val="F4F0FC"/>
          </a:solidFill>
          <a:ln w="11430">
            <a:solidFill>
              <a:srgbClr val="B29AD9"/>
            </a:solidFill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074920" y="3589020"/>
            <a:ext cx="2499360" cy="25908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620" b="1">
                <a:solidFill>
                  <a:srgbClr val="7961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20" b="1">
                <a:solidFill>
                  <a:srgbClr val="7961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辅助语义预测 Head</a:t>
            </a:r>
            <a:endParaRPr sz="1620" b="1">
              <a:solidFill>
                <a:srgbClr val="79619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074920" y="3962400"/>
            <a:ext cx="2499360" cy="22860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2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2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 h 预测人工语义（13维）</a:t>
            </a:r>
            <a:endParaRPr sz="132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3695700" y="4191000"/>
            <a:ext cx="1257300" cy="0"/>
          </a:xfrm>
          <a:prstGeom prst="line">
            <a:avLst/>
          </a:prstGeom>
          <a:noFill/>
          <a:ln w="22860">
            <a:solidFill>
              <a:srgbClr val="BB7E28"/>
            </a:solidFill>
            <a:prstDash val="dash"/>
          </a:ln>
        </p:spPr>
      </p:sp>
      <p:sp>
        <p:nvSpPr>
          <p:cNvPr id="35" name="等腰三角形 34"/>
          <p:cNvSpPr>
            <a:spLocks noGrp="1"/>
          </p:cNvSpPr>
          <p:nvPr/>
        </p:nvSpPr>
        <p:spPr>
          <a:xfrm rot="5400000">
            <a:off x="4861560" y="4137660"/>
            <a:ext cx="106680" cy="91440"/>
          </a:xfrm>
          <a:prstGeom prst="triangle">
            <a:avLst/>
          </a:prstGeom>
          <a:solidFill>
            <a:srgbClr val="BB7E28"/>
          </a:solidFill>
          <a:ln w="0">
            <a:noFill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3749040" y="3848100"/>
            <a:ext cx="1165860" cy="22098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26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6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辅助回归监督</a:t>
            </a:r>
            <a:endParaRPr sz="126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153400" y="3329940"/>
            <a:ext cx="3429000" cy="2087880"/>
          </a:xfrm>
          <a:prstGeom prst="rect">
            <a:avLst/>
          </a:prstGeom>
          <a:solidFill>
            <a:srgbClr val="FAF7FF"/>
          </a:solidFill>
          <a:ln w="11430">
            <a:solidFill>
              <a:srgbClr val="B49ADE"/>
            </a:solidFill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267700" y="3421380"/>
            <a:ext cx="3200400" cy="25908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680" b="1">
                <a:solidFill>
                  <a:srgbClr val="7961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80" b="1">
                <a:solidFill>
                  <a:srgbClr val="7961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候选残差表示分支</a:t>
            </a:r>
            <a:endParaRPr sz="1680" b="1">
              <a:solidFill>
                <a:srgbClr val="79619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267700" y="3749040"/>
            <a:ext cx="3200400" cy="510540"/>
          </a:xfrm>
          <a:prstGeom prst="rect">
            <a:avLst/>
          </a:prstGeom>
          <a:solidFill>
            <a:srgbClr val="EEE5FC"/>
          </a:solidFill>
          <a:ln w="11430">
            <a:solidFill>
              <a:srgbClr val="EEE5FC"/>
            </a:solidFill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343900" y="3802380"/>
            <a:ext cx="3048000" cy="22098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80" b="1">
                <a:solidFill>
                  <a:srgbClr val="7961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80" b="1">
                <a:solidFill>
                  <a:srgbClr val="7961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语义投影 MLP：h_sem = φ(s) ∈ ℝᵈ</a:t>
            </a:r>
            <a:endParaRPr sz="1380" b="1">
              <a:solidFill>
                <a:srgbClr val="79619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343900" y="4069080"/>
            <a:ext cx="3048000" cy="16764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20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将人工语义真值映射到 h 的维度</a:t>
            </a:r>
            <a:endParaRPr sz="120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9867900" y="4259580"/>
            <a:ext cx="0" cy="137160"/>
          </a:xfrm>
          <a:prstGeom prst="line">
            <a:avLst/>
          </a:prstGeom>
          <a:noFill/>
          <a:ln w="22860">
            <a:solidFill>
              <a:srgbClr val="79619C"/>
            </a:solidFill>
            <a:prstDash val="solid"/>
          </a:ln>
        </p:spPr>
      </p:sp>
      <p:sp>
        <p:nvSpPr>
          <p:cNvPr id="48" name="等腰三角形 47"/>
          <p:cNvSpPr>
            <a:spLocks noGrp="1"/>
          </p:cNvSpPr>
          <p:nvPr/>
        </p:nvSpPr>
        <p:spPr>
          <a:xfrm rot="10800000">
            <a:off x="9814560" y="4305300"/>
            <a:ext cx="106680" cy="91440"/>
          </a:xfrm>
          <a:prstGeom prst="triangle">
            <a:avLst/>
          </a:prstGeom>
          <a:solidFill>
            <a:srgbClr val="79619C"/>
          </a:solidFill>
          <a:ln w="0">
            <a:noFill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8267700" y="4396740"/>
            <a:ext cx="3200400" cy="472440"/>
          </a:xfrm>
          <a:prstGeom prst="rect">
            <a:avLst/>
          </a:prstGeom>
          <a:solidFill>
            <a:srgbClr val="EEE5FC"/>
          </a:solidFill>
          <a:ln w="11430">
            <a:solidFill>
              <a:srgbClr val="EEE5FC"/>
            </a:solidFill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8343900" y="4465320"/>
            <a:ext cx="3048000" cy="26670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500" b="1">
                <a:solidFill>
                  <a:srgbClr val="7961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7961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残差化：z_residual = h − h_sem</a:t>
            </a:r>
            <a:endParaRPr sz="1500" b="1">
              <a:solidFill>
                <a:srgbClr val="79619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9867900" y="4869180"/>
            <a:ext cx="0" cy="91440"/>
          </a:xfrm>
          <a:prstGeom prst="line">
            <a:avLst/>
          </a:prstGeom>
          <a:noFill/>
          <a:ln w="22860">
            <a:solidFill>
              <a:srgbClr val="79619C"/>
            </a:solidFill>
            <a:prstDash val="solid"/>
          </a:ln>
        </p:spPr>
      </p:sp>
      <p:sp>
        <p:nvSpPr>
          <p:cNvPr id="52" name="等腰三角形 51"/>
          <p:cNvSpPr>
            <a:spLocks noGrp="1"/>
          </p:cNvSpPr>
          <p:nvPr/>
        </p:nvSpPr>
        <p:spPr>
          <a:xfrm rot="10800000">
            <a:off x="9814560" y="4869180"/>
            <a:ext cx="106680" cy="91440"/>
          </a:xfrm>
          <a:prstGeom prst="triangle">
            <a:avLst/>
          </a:prstGeom>
          <a:solidFill>
            <a:srgbClr val="79619C"/>
          </a:solidFill>
          <a:ln w="0">
            <a:noFill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8267700" y="4960620"/>
            <a:ext cx="3200400" cy="350520"/>
          </a:xfrm>
          <a:prstGeom prst="rect">
            <a:avLst/>
          </a:prstGeom>
          <a:solidFill>
            <a:srgbClr val="F2ECFA"/>
          </a:solidFill>
          <a:ln w="11430">
            <a:solidFill>
              <a:srgbClr val="F2ECFA"/>
            </a:solidFill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8328660" y="5013960"/>
            <a:ext cx="3078480" cy="22860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260" b="1">
                <a:solidFill>
                  <a:srgbClr val="7961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60" b="1">
                <a:solidFill>
                  <a:srgbClr val="7961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候选残差（64维）：拟减少已知语义冗余</a:t>
            </a:r>
            <a:endParaRPr sz="1260" b="1">
              <a:solidFill>
                <a:srgbClr val="79619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3695700" y="5196840"/>
            <a:ext cx="289560" cy="0"/>
          </a:xfrm>
          <a:prstGeom prst="line">
            <a:avLst/>
          </a:prstGeom>
          <a:noFill/>
          <a:ln w="22860">
            <a:solidFill>
              <a:srgbClr val="BB7E28"/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3985260" y="5196840"/>
            <a:ext cx="0" cy="419100"/>
          </a:xfrm>
          <a:prstGeom prst="line">
            <a:avLst/>
          </a:prstGeom>
          <a:noFill/>
          <a:ln w="22860">
            <a:solidFill>
              <a:srgbClr val="BB7E28"/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3985260" y="5615940"/>
            <a:ext cx="3962400" cy="0"/>
          </a:xfrm>
          <a:prstGeom prst="line">
            <a:avLst/>
          </a:prstGeom>
          <a:noFill/>
          <a:ln w="22860">
            <a:solidFill>
              <a:srgbClr val="BB7E28"/>
            </a:solidFill>
            <a:prstDash val="solid"/>
          </a:ln>
        </p:spPr>
      </p:sp>
      <p:sp>
        <p:nvSpPr>
          <p:cNvPr id="58" name="直接连接符 57"/>
          <p:cNvSpPr>
            <a:spLocks noGrp="1"/>
          </p:cNvSpPr>
          <p:nvPr/>
        </p:nvSpPr>
        <p:spPr>
          <a:xfrm>
            <a:off x="7947660" y="3992880"/>
            <a:ext cx="0" cy="1623060"/>
          </a:xfrm>
          <a:prstGeom prst="line">
            <a:avLst/>
          </a:prstGeom>
          <a:noFill/>
          <a:ln w="22860">
            <a:solidFill>
              <a:srgbClr val="BB7E28"/>
            </a:solidFill>
            <a:prstDash val="solid"/>
          </a:ln>
        </p:spPr>
      </p:sp>
      <p:sp>
        <p:nvSpPr>
          <p:cNvPr id="59" name="直接连接符 58"/>
          <p:cNvSpPr>
            <a:spLocks noGrp="1"/>
          </p:cNvSpPr>
          <p:nvPr/>
        </p:nvSpPr>
        <p:spPr>
          <a:xfrm>
            <a:off x="7947660" y="3992880"/>
            <a:ext cx="320040" cy="0"/>
          </a:xfrm>
          <a:prstGeom prst="line">
            <a:avLst/>
          </a:prstGeom>
          <a:noFill/>
          <a:ln w="22860">
            <a:solidFill>
              <a:srgbClr val="BB7E28"/>
            </a:solidFill>
            <a:prstDash val="solid"/>
          </a:ln>
        </p:spPr>
      </p:sp>
      <p:sp>
        <p:nvSpPr>
          <p:cNvPr id="60" name="等腰三角形 59"/>
          <p:cNvSpPr>
            <a:spLocks noGrp="1"/>
          </p:cNvSpPr>
          <p:nvPr/>
        </p:nvSpPr>
        <p:spPr>
          <a:xfrm rot="5400000">
            <a:off x="8176260" y="3939540"/>
            <a:ext cx="106680" cy="91440"/>
          </a:xfrm>
          <a:prstGeom prst="triangle">
            <a:avLst/>
          </a:prstGeom>
          <a:solidFill>
            <a:srgbClr val="BB7E28"/>
          </a:solidFill>
          <a:ln w="0">
            <a:noFill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4472940" y="5311140"/>
            <a:ext cx="3124200" cy="182880"/>
          </a:xfrm>
          <a:prstGeom prst="rect">
            <a:avLst/>
          </a:prstGeom>
          <a:solidFill>
            <a:srgbClr val="FFFFFF"/>
          </a:solidFill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人工语义真值 s：输入语义投影网络</a:t>
            </a:r>
            <a:endParaRPr sz="120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" name="直接连接符 61"/>
          <p:cNvSpPr>
            <a:spLocks noGrp="1"/>
          </p:cNvSpPr>
          <p:nvPr/>
        </p:nvSpPr>
        <p:spPr>
          <a:xfrm>
            <a:off x="1905000" y="5417820"/>
            <a:ext cx="0" cy="449580"/>
          </a:xfrm>
          <a:prstGeom prst="line">
            <a:avLst/>
          </a:prstGeom>
          <a:noFill/>
          <a:ln w="22860">
            <a:solidFill>
              <a:srgbClr val="BB7E28"/>
            </a:solidFill>
            <a:prstDash val="solid"/>
          </a:ln>
        </p:spPr>
      </p:sp>
      <p:sp>
        <p:nvSpPr>
          <p:cNvPr id="63" name="直接连接符 62"/>
          <p:cNvSpPr>
            <a:spLocks noGrp="1"/>
          </p:cNvSpPr>
          <p:nvPr/>
        </p:nvSpPr>
        <p:spPr>
          <a:xfrm>
            <a:off x="1905000" y="5867400"/>
            <a:ext cx="2286000" cy="0"/>
          </a:xfrm>
          <a:prstGeom prst="line">
            <a:avLst/>
          </a:prstGeom>
          <a:noFill/>
          <a:ln w="22860">
            <a:solidFill>
              <a:srgbClr val="BB7E28"/>
            </a:solidFill>
            <a:prstDash val="solid"/>
          </a:ln>
        </p:spPr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4191000" y="5867400"/>
            <a:ext cx="0" cy="144780"/>
          </a:xfrm>
          <a:prstGeom prst="line">
            <a:avLst/>
          </a:prstGeom>
          <a:noFill/>
          <a:ln w="22860">
            <a:solidFill>
              <a:srgbClr val="BB7E28"/>
            </a:solidFill>
            <a:prstDash val="solid"/>
          </a:ln>
        </p:spPr>
      </p:sp>
      <p:sp>
        <p:nvSpPr>
          <p:cNvPr id="65" name="等腰三角形 64"/>
          <p:cNvSpPr>
            <a:spLocks noGrp="1"/>
          </p:cNvSpPr>
          <p:nvPr/>
        </p:nvSpPr>
        <p:spPr>
          <a:xfrm rot="10800000">
            <a:off x="4137660" y="5920740"/>
            <a:ext cx="106680" cy="91440"/>
          </a:xfrm>
          <a:prstGeom prst="triangle">
            <a:avLst/>
          </a:prstGeom>
          <a:solidFill>
            <a:srgbClr val="BB7E28"/>
          </a:solidFill>
          <a:ln w="0">
            <a:noFill/>
          </a:ln>
        </p:spPr>
      </p:sp>
      <p:sp>
        <p:nvSpPr>
          <p:cNvPr id="66" name="直接连接符 65"/>
          <p:cNvSpPr>
            <a:spLocks noGrp="1"/>
          </p:cNvSpPr>
          <p:nvPr/>
        </p:nvSpPr>
        <p:spPr>
          <a:xfrm>
            <a:off x="9867900" y="5417820"/>
            <a:ext cx="0" cy="411480"/>
          </a:xfrm>
          <a:prstGeom prst="line">
            <a:avLst/>
          </a:prstGeom>
          <a:noFill/>
          <a:ln w="22860">
            <a:solidFill>
              <a:srgbClr val="79619C"/>
            </a:solidFill>
            <a:prstDash val="solid"/>
          </a:ln>
        </p:spPr>
      </p:sp>
      <p:sp>
        <p:nvSpPr>
          <p:cNvPr id="67" name="直接连接符 66"/>
          <p:cNvSpPr>
            <a:spLocks noGrp="1"/>
          </p:cNvSpPr>
          <p:nvPr/>
        </p:nvSpPr>
        <p:spPr>
          <a:xfrm>
            <a:off x="7543800" y="5829300"/>
            <a:ext cx="2324100" cy="0"/>
          </a:xfrm>
          <a:prstGeom prst="line">
            <a:avLst/>
          </a:prstGeom>
          <a:noFill/>
          <a:ln w="22860">
            <a:solidFill>
              <a:srgbClr val="79619C"/>
            </a:solidFill>
            <a:prstDash val="solid"/>
          </a:ln>
        </p:spPr>
      </p:sp>
      <p:sp>
        <p:nvSpPr>
          <p:cNvPr id="68" name="直接连接符 67"/>
          <p:cNvSpPr>
            <a:spLocks noGrp="1"/>
          </p:cNvSpPr>
          <p:nvPr/>
        </p:nvSpPr>
        <p:spPr>
          <a:xfrm>
            <a:off x="7543800" y="5829300"/>
            <a:ext cx="0" cy="182880"/>
          </a:xfrm>
          <a:prstGeom prst="line">
            <a:avLst/>
          </a:prstGeom>
          <a:noFill/>
          <a:ln w="22860">
            <a:solidFill>
              <a:srgbClr val="79619C"/>
            </a:solidFill>
            <a:prstDash val="solid"/>
          </a:ln>
        </p:spPr>
      </p:sp>
      <p:sp>
        <p:nvSpPr>
          <p:cNvPr id="69" name="等腰三角形 68"/>
          <p:cNvSpPr>
            <a:spLocks noGrp="1"/>
          </p:cNvSpPr>
          <p:nvPr/>
        </p:nvSpPr>
        <p:spPr>
          <a:xfrm rot="10800000">
            <a:off x="7490460" y="5920740"/>
            <a:ext cx="106680" cy="91440"/>
          </a:xfrm>
          <a:prstGeom prst="triangle">
            <a:avLst/>
          </a:prstGeom>
          <a:solidFill>
            <a:srgbClr val="79619C"/>
          </a:solidFill>
          <a:ln w="0">
            <a:noFill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3124200" y="6012180"/>
            <a:ext cx="5334000" cy="655320"/>
          </a:xfrm>
          <a:prstGeom prst="rect">
            <a:avLst/>
          </a:prstGeom>
          <a:solidFill>
            <a:srgbClr val="08A0BF"/>
          </a:solidFill>
          <a:ln w="11430">
            <a:solidFill>
              <a:srgbClr val="08A0BF"/>
            </a:solidFill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3238500" y="6088380"/>
            <a:ext cx="5105400" cy="26670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7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融合行为表示  z = [z_known; z_residual]</a:t>
            </a:r>
            <a:endParaRPr sz="174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3238500" y="6416040"/>
            <a:ext cx="5105400" cy="19050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2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2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77维 = 13维已知语义 + 64维候选残差（示例配置）</a:t>
            </a:r>
            <a:endParaRPr sz="132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8686800" y="6012180"/>
            <a:ext cx="3048000" cy="655320"/>
          </a:xfrm>
          <a:prstGeom prst="rect">
            <a:avLst/>
          </a:prstGeom>
          <a:solidFill>
            <a:srgbClr val="F6F8FA"/>
          </a:solidFill>
          <a:ln w="11430">
            <a:solidFill>
              <a:srgbClr val="B8CADD"/>
            </a:solidFill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8785860" y="6080760"/>
            <a:ext cx="2849880" cy="510540"/>
          </a:xfrm>
          <a:prstGeom prst="rect">
            <a:avLst/>
          </a:prstGeom>
          <a:noFill/>
          <a:ln w="1143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26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6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融合采用真值 s，不采用预测值 ŝ。</a:t>
            </a:r>
            <a:endParaRPr sz="126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buNone/>
              <a:defRPr sz="126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6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相减不保证独立增量，需通过受控</a:t>
            </a:r>
            <a:endParaRPr sz="126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buNone/>
              <a:defRPr sz="126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6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实验、消融与去相关约束评估验证。</a:t>
            </a:r>
            <a:endParaRPr sz="126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等腰三角形 23"/>
          <p:cNvSpPr>
            <a:spLocks noGrp="1"/>
          </p:cNvSpPr>
          <p:nvPr/>
        </p:nvSpPr>
        <p:spPr>
          <a:xfrm rot="16200000">
            <a:off x="11468100" y="4495800"/>
            <a:ext cx="106680" cy="91440"/>
          </a:xfrm>
          <a:prstGeom prst="triangle">
            <a:avLst/>
          </a:prstGeom>
          <a:solidFill>
            <a:srgbClr val="79619C"/>
          </a:solidFill>
          <a:ln w="0"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>
            <a:spLocks noGrp="1"/>
          </p:cNvSpPr>
          <p:nvPr/>
        </p:nvSpPr>
        <p:spPr>
          <a:xfrm>
            <a:off x="109728" y="73152"/>
            <a:ext cx="4892040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64592" anchor="ctr"/>
          <a:lstStyle/>
          <a:p>
            <a:pPr algn="l">
              <a:spcAft>
                <a:spcPts val="0"/>
              </a:spcAft>
              <a:buNone/>
              <a:defRPr sz="17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074920" y="73152"/>
            <a:ext cx="6967728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2880" anchor="ctr"/>
          <a:lstStyle/>
          <a:p>
            <a:pPr algn="l">
              <a:spcAft>
                <a:spcPts val="0"/>
              </a:spcAft>
              <a:buNone/>
              <a:defRPr sz="1070" b="0">
                <a:solidFill>
                  <a:srgbClr val="6D7A8E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640080" y="1138580"/>
            <a:ext cx="10927080" cy="1025042"/>
          </a:xfrm>
          <a:prstGeom prst="roundRect">
            <a:avLst>
              <a:gd name="adj" fmla="val 0"/>
            </a:avLst>
          </a:prstGeom>
          <a:solidFill>
            <a:srgbClr val="EEF7F3"/>
          </a:solidFill>
          <a:ln w="9525">
            <a:solidFill>
              <a:srgbClr val="34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4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行为分布漂移 BDD</a:t>
            </a:r>
            <a:endParaRPr sz="1740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0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在给定驾驶任务、行为表示和评价方式条件下，判断目标软件 P_T 相对于基准软件 P_R 的行为分布是否发生变化。</a:t>
            </a:r>
            <a:endParaRPr sz="130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30352" y="2389480"/>
            <a:ext cx="3493008" cy="3083814"/>
          </a:xfrm>
          <a:prstGeom prst="roundRect">
            <a:avLst>
              <a:gd name="adj" fmla="val 0"/>
            </a:avLst>
          </a:prstGeom>
          <a:solidFill>
            <a:srgbClr val="EEF7F3"/>
          </a:solidFill>
          <a:ln w="9525">
            <a:solidFill>
              <a:srgbClr val="34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4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① 用什么统计量？</a:t>
            </a:r>
            <a:endParaRPr sz="164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6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主要使用MMD / MMD²进行高维两样本比较</a:t>
            </a:r>
            <a:endParaRPr sz="126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6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相比只看均值和方差，可捕获更复杂的分布变化</a:t>
            </a:r>
            <a:endParaRPr sz="126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6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还可结合能量距离等补充统计量做稳健性分析</a:t>
            </a:r>
            <a:endParaRPr sz="126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4352544" y="2389480"/>
            <a:ext cx="3493008" cy="3083814"/>
          </a:xfrm>
          <a:prstGeom prst="roundRect">
            <a:avLst>
              <a:gd name="adj" fmla="val 0"/>
            </a:avLst>
          </a:prstGeom>
          <a:solidFill>
            <a:srgbClr val="FFF5E9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4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② 为什么不能设统一阈值？</a:t>
            </a:r>
            <a:endParaRPr sz="164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表示尺度和距离结构不同</a:t>
            </a:r>
            <a:endParaRPr sz="12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核带宽会改变MMD数值</a:t>
            </a:r>
            <a:endParaRPr sz="12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样本数量会影响有限样本波动</a:t>
            </a:r>
            <a:endParaRPr sz="12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高速/城区等场景组成也会改变行为分布</a:t>
            </a:r>
            <a:endParaRPr sz="12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8174736" y="2389480"/>
            <a:ext cx="3493008" cy="3083814"/>
          </a:xfrm>
          <a:prstGeom prst="roundRect">
            <a:avLst>
              <a:gd name="adj" fmla="val 0"/>
            </a:avLst>
          </a:prstGeom>
          <a:solidFill>
            <a:srgbClr val="EDF4FA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4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③ 怎样解释显著结果？</a:t>
            </a:r>
            <a:endParaRPr sz="164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显著：说明行为分布变化超过相应零假设背景</a:t>
            </a:r>
            <a:endParaRPr sz="12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不代表Target更安全、更好或更差</a:t>
            </a:r>
            <a:endParaRPr sz="12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方向必须由THW、jerk、横摆角速度等物理指标解释</a:t>
            </a:r>
            <a:endParaRPr sz="12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146304" y="6199632"/>
            <a:ext cx="11905488" cy="457200"/>
          </a:xfrm>
          <a:prstGeom prst="roundRect">
            <a:avLst>
              <a:gd name="adj" fmla="val 0"/>
            </a:avLst>
          </a:prstGeom>
          <a:solidFill>
            <a:srgbClr val="E8F0F8"/>
          </a:solidFill>
          <a:ln w="952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正确判断不是“MMD大于某个固定值”，而是“当前差异是否明显超过相同条件下的正常背景波动”。</a:t>
            </a:r>
            <a:endParaRPr sz="13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12191362" cy="742950"/>
          </a:xfrm>
          <a:prstGeom prst="rect">
            <a:avLst/>
          </a:prstGeom>
          <a:solidFill>
            <a:srgbClr val="215B94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66700" y="47625"/>
            <a:ext cx="116586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  模块三：行为漂移统计</a:t>
            </a:r>
            <a:endParaRPr sz="21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66700" y="419100"/>
            <a:ext cx="116586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BDD定义评价问题，MMD/MMD²用于量化两组行为分布差异</a:t>
            </a:r>
            <a:endParaRPr sz="13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>
            <a:spLocks noGrp="1"/>
          </p:cNvSpPr>
          <p:nvPr/>
        </p:nvSpPr>
        <p:spPr>
          <a:xfrm>
            <a:off x="109728" y="73152"/>
            <a:ext cx="4892040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64592" anchor="ctr"/>
          <a:lstStyle/>
          <a:p>
            <a:pPr algn="l">
              <a:spcAft>
                <a:spcPts val="0"/>
              </a:spcAft>
              <a:buNone/>
              <a:defRPr sz="17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074920" y="73152"/>
            <a:ext cx="6967728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2880" anchor="ctr"/>
          <a:lstStyle/>
          <a:p>
            <a:pPr algn="l">
              <a:spcAft>
                <a:spcPts val="0"/>
              </a:spcAft>
              <a:buNone/>
              <a:defRPr sz="1070" b="0">
                <a:solidFill>
                  <a:srgbClr val="6D7A8E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274320" y="964844"/>
            <a:ext cx="571500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274320" y="964844"/>
            <a:ext cx="5715000" cy="469087"/>
          </a:xfrm>
          <a:prstGeom prst="roundRect">
            <a:avLst>
              <a:gd name="adj" fmla="val 0"/>
            </a:avLst>
          </a:prstGeom>
          <a:solidFill>
            <a:srgbClr val="7950D6"/>
          </a:solidFill>
          <a:ln w="9525">
            <a:solidFill>
              <a:srgbClr val="795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Oval 5"/>
          <p:cNvSpPr>
            <a:spLocks noGrp="1"/>
          </p:cNvSpPr>
          <p:nvPr/>
        </p:nvSpPr>
        <p:spPr>
          <a:xfrm>
            <a:off x="402336" y="1051712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7950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200" b="1">
              <a:solidFill>
                <a:srgbClr val="7950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04671" y="1069086"/>
            <a:ext cx="5093208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同场景配对归因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530352" y="1590294"/>
            <a:ext cx="5212080" cy="3093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3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核心问题：控制场景之后，策略改变是否导致行为改变？</a:t>
            </a:r>
            <a:endParaRPr sz="143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777240" y="2189683"/>
            <a:ext cx="502920" cy="191110"/>
          </a:xfrm>
          <a:prstGeom prst="roundRect">
            <a:avLst>
              <a:gd name="adj" fmla="val 0"/>
            </a:avLst>
          </a:prstGeom>
          <a:solidFill>
            <a:srgbClr val="21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apezoid 9"/>
          <p:cNvSpPr>
            <a:spLocks noGrp="1"/>
          </p:cNvSpPr>
          <p:nvPr/>
        </p:nvSpPr>
        <p:spPr>
          <a:xfrm>
            <a:off x="886968" y="2050693"/>
            <a:ext cx="274320" cy="208483"/>
          </a:xfrm>
          <a:prstGeom prst="trapezoid">
            <a:avLst/>
          </a:prstGeom>
          <a:solidFill>
            <a:srgbClr val="21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850392" y="2346045"/>
            <a:ext cx="91440" cy="86868"/>
          </a:xfrm>
          <a:prstGeom prst="ellipse">
            <a:avLst/>
          </a:prstGeom>
          <a:solidFill>
            <a:srgbClr val="23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Oval 11"/>
          <p:cNvSpPr>
            <a:spLocks noGrp="1"/>
          </p:cNvSpPr>
          <p:nvPr/>
        </p:nvSpPr>
        <p:spPr>
          <a:xfrm>
            <a:off x="1143000" y="2346045"/>
            <a:ext cx="91440" cy="86868"/>
          </a:xfrm>
          <a:prstGeom prst="ellipse">
            <a:avLst/>
          </a:prstGeom>
          <a:solidFill>
            <a:srgbClr val="23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1417320" y="2111502"/>
            <a:ext cx="1097280" cy="4480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7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基准</a:t>
            </a:r>
            <a:r>
              <a:rPr sz="117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软件</a:t>
            </a:r>
            <a:endParaRPr sz="1170" b="1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3383280" y="2189683"/>
            <a:ext cx="502920" cy="191110"/>
          </a:xfrm>
          <a:prstGeom prst="roundRect">
            <a:avLst>
              <a:gd name="adj" fmla="val 0"/>
            </a:avLst>
          </a:prstGeom>
          <a:solidFill>
            <a:srgbClr val="BB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rapezoid 14"/>
          <p:cNvSpPr>
            <a:spLocks noGrp="1"/>
          </p:cNvSpPr>
          <p:nvPr/>
        </p:nvSpPr>
        <p:spPr>
          <a:xfrm>
            <a:off x="3493008" y="2050693"/>
            <a:ext cx="274320" cy="208483"/>
          </a:xfrm>
          <a:prstGeom prst="trapezoid">
            <a:avLst/>
          </a:prstGeom>
          <a:solidFill>
            <a:srgbClr val="BB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Oval 15"/>
          <p:cNvSpPr>
            <a:spLocks noGrp="1"/>
          </p:cNvSpPr>
          <p:nvPr/>
        </p:nvSpPr>
        <p:spPr>
          <a:xfrm>
            <a:off x="3456432" y="2346045"/>
            <a:ext cx="91440" cy="86868"/>
          </a:xfrm>
          <a:prstGeom prst="ellipse">
            <a:avLst/>
          </a:prstGeom>
          <a:solidFill>
            <a:srgbClr val="23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Oval 16"/>
          <p:cNvSpPr>
            <a:spLocks noGrp="1"/>
          </p:cNvSpPr>
          <p:nvPr/>
        </p:nvSpPr>
        <p:spPr>
          <a:xfrm>
            <a:off x="3749040" y="2346045"/>
            <a:ext cx="91440" cy="86868"/>
          </a:xfrm>
          <a:prstGeom prst="ellipse">
            <a:avLst/>
          </a:prstGeom>
          <a:solidFill>
            <a:srgbClr val="23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4023360" y="2111502"/>
            <a:ext cx="1097280" cy="2697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7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</a:t>
            </a:r>
            <a:r>
              <a:rPr sz="117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软件</a:t>
            </a:r>
            <a:endParaRPr sz="1170" b="1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2240280" y="2458974"/>
            <a:ext cx="141732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1">
                <a:solidFill>
                  <a:srgbClr val="7950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同一场景 / 同一初始状态</a:t>
            </a:r>
            <a:endParaRPr sz="1080" b="1">
              <a:solidFill>
                <a:srgbClr val="7950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612648" y="2910688"/>
            <a:ext cx="5029200" cy="1997964"/>
          </a:xfrm>
          <a:prstGeom prst="roundRect">
            <a:avLst>
              <a:gd name="adj" fmla="val 0"/>
            </a:avLst>
          </a:prstGeom>
          <a:solidFill>
            <a:srgbClr val="F4F0FC"/>
          </a:solidFill>
          <a:ln w="9525">
            <a:solidFill>
              <a:srgbClr val="795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配对随机化检验</a:t>
            </a:r>
            <a:endParaRPr sz="145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以同场景结果对作为统计基本单元</a:t>
            </a:r>
            <a:endParaRPr sz="112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在零假设下，随机交换每个pair中的“基准/目标”标签</a:t>
            </a:r>
            <a:endParaRPr sz="112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重复计算MMD²形成“没有系统策略效应”时的零假设分布</a:t>
            </a:r>
            <a:endParaRPr sz="112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整个过程保留场景配对关系，避免重新混入场景差异</a:t>
            </a:r>
            <a:endParaRPr sz="112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6199632" y="964844"/>
            <a:ext cx="571500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6199632" y="964844"/>
            <a:ext cx="5715000" cy="469087"/>
          </a:xfrm>
          <a:prstGeom prst="roundRect">
            <a:avLst>
              <a:gd name="adj" fmla="val 0"/>
            </a:avLst>
          </a:prstGeom>
          <a:solidFill>
            <a:srgbClr val="08A0BF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Oval 22"/>
          <p:cNvSpPr>
            <a:spLocks noGrp="1"/>
          </p:cNvSpPr>
          <p:nvPr/>
        </p:nvSpPr>
        <p:spPr>
          <a:xfrm>
            <a:off x="6327648" y="1051712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08A0B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200" b="1">
              <a:solidFill>
                <a:srgbClr val="08A0B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6729984" y="1069086"/>
            <a:ext cx="5093208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异场景版本监控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6455664" y="1590294"/>
            <a:ext cx="5212080" cy="527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3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核心问题：真实发布条件下，新版本是否超出旧版本的正常波动？</a:t>
            </a:r>
            <a:endParaRPr sz="143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7079615" y="2120392"/>
            <a:ext cx="1417320" cy="304038"/>
          </a:xfrm>
          <a:prstGeom prst="roundRect">
            <a:avLst>
              <a:gd name="adj" fmla="val 0"/>
            </a:avLst>
          </a:prstGeom>
          <a:solidFill>
            <a:srgbClr val="FFF5E9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6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场景控制/平衡</a:t>
            </a:r>
            <a:endParaRPr sz="1060" b="0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8725535" y="2120392"/>
            <a:ext cx="1143000" cy="304038"/>
          </a:xfrm>
          <a:prstGeom prst="roundRect">
            <a:avLst>
              <a:gd name="adj" fmla="val 0"/>
            </a:avLst>
          </a:prstGeom>
          <a:solidFill>
            <a:srgbClr val="EEF7F3"/>
          </a:solidFill>
          <a:ln w="9525">
            <a:solidFill>
              <a:srgbClr val="34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06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背景计算</a:t>
            </a:r>
            <a:r>
              <a:rPr sz="106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A/A</a:t>
            </a:r>
            <a:endParaRPr sz="1060" b="0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Rounded Rectangle 28"/>
          <p:cNvSpPr>
            <a:spLocks noGrp="1"/>
          </p:cNvSpPr>
          <p:nvPr/>
        </p:nvSpPr>
        <p:spPr>
          <a:xfrm>
            <a:off x="10005695" y="2120392"/>
            <a:ext cx="1143000" cy="304038"/>
          </a:xfrm>
          <a:prstGeom prst="roundRect">
            <a:avLst>
              <a:gd name="adj" fmla="val 0"/>
            </a:avLst>
          </a:prstGeom>
          <a:solidFill>
            <a:srgbClr val="F4F0FC"/>
          </a:solidFill>
          <a:ln w="9525">
            <a:solidFill>
              <a:srgbClr val="795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6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A/B比较</a:t>
            </a:r>
            <a:endParaRPr sz="1060" b="0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Rounded Rectangle 29"/>
          <p:cNvSpPr>
            <a:spLocks noGrp="1"/>
          </p:cNvSpPr>
          <p:nvPr/>
        </p:nvSpPr>
        <p:spPr>
          <a:xfrm>
            <a:off x="6537960" y="2910688"/>
            <a:ext cx="5029200" cy="1997964"/>
          </a:xfrm>
          <a:prstGeom prst="roundRect">
            <a:avLst>
              <a:gd name="adj" fmla="val 0"/>
            </a:avLst>
          </a:prstGeom>
          <a:solidFill>
            <a:srgbClr val="EFF8FA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真实版本监控流程</a:t>
            </a:r>
            <a:endParaRPr sz="145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先降低高速/城区/拥堵等场景比例差异造成的伪漂移</a:t>
            </a:r>
            <a:endParaRPr sz="112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基准版本内部A/A比较建立正常背景波动</a:t>
            </a:r>
            <a:endParaRPr sz="112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再判断</a:t>
            </a:r>
            <a:r>
              <a:rPr sz="112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目标软件策略</a:t>
            </a:r>
            <a:r>
              <a:rPr sz="112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是否稳定超过背景；该结果是漂移告警，不等同于严格因果结论</a:t>
            </a:r>
            <a:endParaRPr sz="112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146304" y="6199632"/>
            <a:ext cx="11905488" cy="457200"/>
          </a:xfrm>
          <a:prstGeom prst="roundRect">
            <a:avLst>
              <a:gd name="adj" fmla="val 0"/>
            </a:avLst>
          </a:prstGeom>
          <a:solidFill>
            <a:srgbClr val="E8F0F8"/>
          </a:solidFill>
          <a:ln w="952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两种模式不能混用：左边强调“策略归因”，右边强调“版本监控”。</a:t>
            </a:r>
            <a:endParaRPr sz="13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1362" cy="742950"/>
          </a:xfrm>
          <a:prstGeom prst="rect">
            <a:avLst/>
          </a:prstGeom>
          <a:solidFill>
            <a:srgbClr val="215B94"/>
          </a:solidFill>
          <a:ln w="0">
            <a:noFill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266700" y="47625"/>
            <a:ext cx="116586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  模块四：双模式评价</a:t>
            </a:r>
            <a:endParaRPr sz="21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66700" y="419100"/>
            <a:ext cx="116586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同场景配对解决策略归因；异场景监控解决真实发布数据的版本漂移告警</a:t>
            </a:r>
            <a:endParaRPr sz="13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>
            <a:spLocks noGrp="1"/>
          </p:cNvSpPr>
          <p:nvPr/>
        </p:nvSpPr>
        <p:spPr>
          <a:xfrm>
            <a:off x="109728" y="73152"/>
            <a:ext cx="4892040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64592" anchor="ctr"/>
          <a:lstStyle/>
          <a:p>
            <a:pPr algn="l">
              <a:spcAft>
                <a:spcPts val="0"/>
              </a:spcAft>
              <a:buNone/>
              <a:defRPr sz="17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074920" y="73152"/>
            <a:ext cx="6967728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2880" anchor="ctr"/>
          <a:lstStyle/>
          <a:p>
            <a:pPr algn="l">
              <a:spcAft>
                <a:spcPts val="0"/>
              </a:spcAft>
              <a:buNone/>
              <a:defRPr sz="1070" b="0">
                <a:solidFill>
                  <a:srgbClr val="6D7A8E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320040" y="999592"/>
            <a:ext cx="205740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320040" y="999592"/>
            <a:ext cx="2057400" cy="469087"/>
          </a:xfrm>
          <a:prstGeom prst="roundRect">
            <a:avLst>
              <a:gd name="adj" fmla="val 0"/>
            </a:avLst>
          </a:prstGeom>
          <a:solidFill>
            <a:srgbClr val="347F70"/>
          </a:solidFill>
          <a:ln w="9525">
            <a:solidFill>
              <a:srgbClr val="34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Oval 5"/>
          <p:cNvSpPr>
            <a:spLocks noGrp="1"/>
          </p:cNvSpPr>
          <p:nvPr/>
        </p:nvSpPr>
        <p:spPr>
          <a:xfrm>
            <a:off x="448056" y="1086459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200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50392" y="1103833"/>
            <a:ext cx="1435607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总体BDD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466344" y="1659788"/>
            <a:ext cx="1764792" cy="39959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是否发生漂移？</a:t>
            </a:r>
            <a:endParaRPr sz="12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75488" y="2328672"/>
            <a:ext cx="1746504" cy="199796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34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统计内容</a:t>
            </a:r>
            <a:endParaRPr sz="13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总体MMD²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Connector 9"/>
          <p:cNvSpPr>
            <a:spLocks noGrp="1"/>
          </p:cNvSpPr>
          <p:nvPr/>
        </p:nvSpPr>
        <p:spPr>
          <a:xfrm>
            <a:off x="2377440" y="3327654"/>
            <a:ext cx="210312" cy="0"/>
          </a:xfrm>
          <a:prstGeom prst="line">
            <a:avLst/>
          </a:prstGeom>
          <a:ln w="17780">
            <a:solidFill>
              <a:srgbClr val="9BAD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2624328" y="999592"/>
            <a:ext cx="205740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2624328" y="999592"/>
            <a:ext cx="2057400" cy="469087"/>
          </a:xfrm>
          <a:prstGeom prst="roundRect">
            <a:avLst>
              <a:gd name="adj" fmla="val 0"/>
            </a:avLst>
          </a:prstGeom>
          <a:solidFill>
            <a:srgbClr val="08A0BF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2752344" y="1086459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08A0B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200" b="1">
              <a:solidFill>
                <a:srgbClr val="08A0B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3154680" y="1103833"/>
            <a:ext cx="1435607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分场景BDD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2770632" y="1659788"/>
            <a:ext cx="1764792" cy="39959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哪些场景最明显？</a:t>
            </a:r>
            <a:endParaRPr sz="12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2779776" y="2328672"/>
            <a:ext cx="1746504" cy="199796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场景切片</a:t>
            </a:r>
            <a:endParaRPr sz="13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跟车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变道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启停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高动态 / 密集交互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Connector 16"/>
          <p:cNvSpPr>
            <a:spLocks noGrp="1"/>
          </p:cNvSpPr>
          <p:nvPr/>
        </p:nvSpPr>
        <p:spPr>
          <a:xfrm>
            <a:off x="4681728" y="3327654"/>
            <a:ext cx="210312" cy="0"/>
          </a:xfrm>
          <a:prstGeom prst="line">
            <a:avLst/>
          </a:prstGeom>
          <a:ln w="17780">
            <a:solidFill>
              <a:srgbClr val="9BAD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4928616" y="999592"/>
            <a:ext cx="205740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4928616" y="999592"/>
            <a:ext cx="2057400" cy="469087"/>
          </a:xfrm>
          <a:prstGeom prst="roundRect">
            <a:avLst>
              <a:gd name="adj" fmla="val 0"/>
            </a:avLst>
          </a:prstGeom>
          <a:solidFill>
            <a:srgbClr val="BB7E28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Oval 19"/>
          <p:cNvSpPr>
            <a:spLocks noGrp="1"/>
          </p:cNvSpPr>
          <p:nvPr/>
        </p:nvSpPr>
        <p:spPr>
          <a:xfrm>
            <a:off x="5056631" y="1086459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20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5458968" y="1103833"/>
            <a:ext cx="1435607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物理语义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5074920" y="1659788"/>
            <a:ext cx="1764792" cy="39959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行为向什么方向变化？</a:t>
            </a:r>
            <a:endParaRPr sz="12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5084064" y="2328672"/>
            <a:ext cx="1746504" cy="199796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方向指标</a:t>
            </a:r>
            <a:endParaRPr sz="13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ΔTHW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ΔRMS jerk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Δ横向加速度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Δ横摆角速度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Connector 23"/>
          <p:cNvSpPr>
            <a:spLocks noGrp="1"/>
          </p:cNvSpPr>
          <p:nvPr/>
        </p:nvSpPr>
        <p:spPr>
          <a:xfrm>
            <a:off x="6986016" y="3327654"/>
            <a:ext cx="210311" cy="0"/>
          </a:xfrm>
          <a:prstGeom prst="line">
            <a:avLst/>
          </a:prstGeom>
          <a:ln w="17780">
            <a:solidFill>
              <a:srgbClr val="9BAD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7232904" y="999592"/>
            <a:ext cx="205740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7232904" y="999592"/>
            <a:ext cx="2057400" cy="469087"/>
          </a:xfrm>
          <a:prstGeom prst="roundRect">
            <a:avLst>
              <a:gd name="adj" fmla="val 0"/>
            </a:avLst>
          </a:prstGeom>
          <a:solidFill>
            <a:srgbClr val="7950D6"/>
          </a:solidFill>
          <a:ln w="9525">
            <a:solidFill>
              <a:srgbClr val="795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" name="Oval 26"/>
          <p:cNvSpPr>
            <a:spLocks noGrp="1"/>
          </p:cNvSpPr>
          <p:nvPr/>
        </p:nvSpPr>
        <p:spPr>
          <a:xfrm>
            <a:off x="7360920" y="1086459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7950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1200" b="1">
              <a:solidFill>
                <a:srgbClr val="7950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7763256" y="1103833"/>
            <a:ext cx="1435607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代表性案例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7379208" y="1659788"/>
            <a:ext cx="1764792" cy="39959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具体场景中如何变化？</a:t>
            </a:r>
            <a:endParaRPr sz="12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Rounded Rectangle 29"/>
          <p:cNvSpPr>
            <a:spLocks noGrp="1"/>
          </p:cNvSpPr>
          <p:nvPr/>
        </p:nvSpPr>
        <p:spPr>
          <a:xfrm>
            <a:off x="7388352" y="2328672"/>
            <a:ext cx="1746504" cy="199796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795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工程证据</a:t>
            </a:r>
            <a:endParaRPr sz="13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同场景轨迹对比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主要差异说明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案例回放 / 可视化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Connector 30"/>
          <p:cNvSpPr>
            <a:spLocks noGrp="1"/>
          </p:cNvSpPr>
          <p:nvPr/>
        </p:nvSpPr>
        <p:spPr>
          <a:xfrm>
            <a:off x="9290304" y="3327654"/>
            <a:ext cx="210312" cy="0"/>
          </a:xfrm>
          <a:prstGeom prst="line">
            <a:avLst/>
          </a:prstGeom>
          <a:ln w="17780">
            <a:solidFill>
              <a:srgbClr val="9BAD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2" name="Rounded Rectangle 31"/>
          <p:cNvSpPr>
            <a:spLocks noGrp="1"/>
          </p:cNvSpPr>
          <p:nvPr/>
        </p:nvSpPr>
        <p:spPr>
          <a:xfrm>
            <a:off x="9537192" y="999592"/>
            <a:ext cx="205740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9537192" y="999592"/>
            <a:ext cx="2057400" cy="469087"/>
          </a:xfrm>
          <a:prstGeom prst="roundRect">
            <a:avLst>
              <a:gd name="adj" fmla="val 0"/>
            </a:avLst>
          </a:prstGeom>
          <a:solidFill>
            <a:srgbClr val="215B94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Oval 33"/>
          <p:cNvSpPr>
            <a:spLocks noGrp="1"/>
          </p:cNvSpPr>
          <p:nvPr/>
        </p:nvSpPr>
        <p:spPr>
          <a:xfrm>
            <a:off x="9665208" y="1086459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</a:t>
            </a:r>
            <a:endParaRPr sz="12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10067544" y="1103833"/>
            <a:ext cx="1435607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版本报告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9683496" y="1659788"/>
            <a:ext cx="1764792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115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是否符合版本设计预期？</a:t>
            </a:r>
            <a:endParaRPr sz="115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9692640" y="2328672"/>
            <a:ext cx="1746504" cy="199796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报告结论</a:t>
            </a:r>
            <a:endParaRPr sz="13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哪里变了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为什么变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是否需进一步排查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是否符合设计预期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1143000" y="5099761"/>
            <a:ext cx="9893808" cy="729691"/>
          </a:xfrm>
          <a:prstGeom prst="roundRect">
            <a:avLst>
              <a:gd name="adj" fmla="val 0"/>
            </a:avLst>
          </a:prstGeom>
          <a:solidFill>
            <a:srgbClr val="F5F8FC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8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示例结论</a:t>
            </a:r>
            <a:endParaRPr sz="148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3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目标软件</a:t>
            </a:r>
            <a:r>
              <a:rPr sz="123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总体行为发生漂移；主要集中在变道场景；变道持续时间增加、横摆角速度下降，表现为横向动作更平缓；典型case回放与统计结果一致。</a:t>
            </a:r>
            <a:endParaRPr sz="123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Rounded Rectangle 38"/>
          <p:cNvSpPr>
            <a:spLocks noGrp="1"/>
          </p:cNvSpPr>
          <p:nvPr/>
        </p:nvSpPr>
        <p:spPr>
          <a:xfrm>
            <a:off x="146304" y="6199632"/>
            <a:ext cx="11905488" cy="457200"/>
          </a:xfrm>
          <a:prstGeom prst="roundRect">
            <a:avLst>
              <a:gd name="adj" fmla="val 0"/>
            </a:avLst>
          </a:prstGeom>
          <a:solidFill>
            <a:srgbClr val="E8F0F8"/>
          </a:solidFill>
          <a:ln w="952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最终输出不是“embedding差了多少”，而是“是否变了—哪里变—怎么变—证据是什么”。</a:t>
            </a:r>
            <a:endParaRPr sz="13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0" y="0"/>
            <a:ext cx="12191362" cy="742950"/>
          </a:xfrm>
          <a:prstGeom prst="rect">
            <a:avLst/>
          </a:prstGeom>
          <a:solidFill>
            <a:srgbClr val="215B94"/>
          </a:solidFill>
          <a:ln w="0">
            <a:noFill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266700" y="47625"/>
            <a:ext cx="116586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  模块五：结果解释与行为漂移报告</a:t>
            </a:r>
            <a:endParaRPr sz="21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266700" y="419100"/>
            <a:ext cx="116586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把统计结果翻译成研发、测试和版本决策能够使用的结论</a:t>
            </a:r>
            <a:endParaRPr sz="13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>
            <a:spLocks noGrp="1"/>
          </p:cNvSpPr>
          <p:nvPr/>
        </p:nvSpPr>
        <p:spPr>
          <a:xfrm>
            <a:off x="109728" y="73152"/>
            <a:ext cx="4892040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64592" anchor="ctr"/>
          <a:lstStyle/>
          <a:p>
            <a:pPr algn="l">
              <a:spcAft>
                <a:spcPts val="0"/>
              </a:spcAft>
              <a:buNone/>
              <a:defRPr sz="17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074920" y="73152"/>
            <a:ext cx="6967728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2880" anchor="ctr"/>
          <a:lstStyle/>
          <a:p>
            <a:pPr algn="l">
              <a:spcAft>
                <a:spcPts val="0"/>
              </a:spcAft>
              <a:buNone/>
              <a:defRPr sz="1070" b="0">
                <a:solidFill>
                  <a:srgbClr val="6D7A8E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219456" y="912724"/>
            <a:ext cx="370332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219456" y="912724"/>
            <a:ext cx="3703320" cy="469087"/>
          </a:xfrm>
          <a:prstGeom prst="roundRect">
            <a:avLst>
              <a:gd name="adj" fmla="val 0"/>
            </a:avLst>
          </a:prstGeom>
          <a:solidFill>
            <a:srgbClr val="215B94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Oval 5"/>
          <p:cNvSpPr>
            <a:spLocks noGrp="1"/>
          </p:cNvSpPr>
          <p:nvPr/>
        </p:nvSpPr>
        <p:spPr>
          <a:xfrm>
            <a:off x="347472" y="999592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2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749808" y="1016965"/>
            <a:ext cx="3081527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真实轨迹数据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438912" y="1572920"/>
            <a:ext cx="3246120" cy="1346454"/>
          </a:xfrm>
          <a:prstGeom prst="roundRect">
            <a:avLst>
              <a:gd name="adj" fmla="val 0"/>
            </a:avLst>
          </a:prstGeom>
          <a:solidFill>
            <a:srgbClr val="EDF4FA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4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Waymo Open Motion Dataset</a:t>
            </a:r>
            <a:endParaRPr sz="144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20s、10Hz，多参与者交互轨迹</a:t>
            </a:r>
            <a:endParaRPr sz="11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用于学习与验证轨迹级行为表示</a:t>
            </a:r>
            <a:endParaRPr sz="11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38912" y="3136544"/>
            <a:ext cx="3246120" cy="134645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4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外部真实轨迹</a:t>
            </a:r>
            <a:endParaRPr sz="144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选择其他公开轨迹/端到端数据</a:t>
            </a:r>
            <a:endParaRPr sz="11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检验跨数据源稳定性</a:t>
            </a:r>
            <a:endParaRPr sz="11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4160520" y="912724"/>
            <a:ext cx="370332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4160520" y="912724"/>
            <a:ext cx="3703320" cy="469087"/>
          </a:xfrm>
          <a:prstGeom prst="roundRect">
            <a:avLst>
              <a:gd name="adj" fmla="val 0"/>
            </a:avLst>
          </a:prstGeom>
          <a:solidFill>
            <a:srgbClr val="347F70"/>
          </a:solidFill>
          <a:ln w="9525">
            <a:solidFill>
              <a:srgbClr val="34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Oval 11"/>
          <p:cNvSpPr>
            <a:spLocks noGrp="1"/>
          </p:cNvSpPr>
          <p:nvPr/>
        </p:nvSpPr>
        <p:spPr>
          <a:xfrm>
            <a:off x="4288536" y="999592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200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4690872" y="1016965"/>
            <a:ext cx="3081527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闭环受控实验平台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4389120" y="1572920"/>
            <a:ext cx="3246120" cy="2910078"/>
          </a:xfrm>
          <a:prstGeom prst="roundRect">
            <a:avLst>
              <a:gd name="adj" fmla="val 0"/>
            </a:avLst>
          </a:prstGeom>
          <a:solidFill>
            <a:srgbClr val="EEF7F3"/>
          </a:solidFill>
          <a:ln w="9525">
            <a:solidFill>
              <a:srgbClr val="34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4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nuPlan等闭环平台</a:t>
            </a:r>
            <a:endParaRPr sz="144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同一初始场景运行不同规划策略</a:t>
            </a:r>
            <a:endParaRPr sz="11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纵向：期望速度、THW、加减速度限制</a:t>
            </a:r>
            <a:endParaRPr sz="11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横向：航向平滑、横摆角速度、变道时间尺度</a:t>
            </a:r>
            <a:endParaRPr sz="11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交互：完整周车 / 置零 / 乱序 / 仅自车</a:t>
            </a:r>
            <a:endParaRPr sz="11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8101583" y="912724"/>
            <a:ext cx="388620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8101583" y="912724"/>
            <a:ext cx="3886200" cy="469087"/>
          </a:xfrm>
          <a:prstGeom prst="roundRect">
            <a:avLst>
              <a:gd name="adj" fmla="val 0"/>
            </a:avLst>
          </a:prstGeom>
          <a:solidFill>
            <a:srgbClr val="BB7E28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Oval 16"/>
          <p:cNvSpPr>
            <a:spLocks noGrp="1"/>
          </p:cNvSpPr>
          <p:nvPr/>
        </p:nvSpPr>
        <p:spPr>
          <a:xfrm>
            <a:off x="8229600" y="999592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20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8631936" y="1016965"/>
            <a:ext cx="3264408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五类实验形成完整证据链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8394192" y="1607668"/>
            <a:ext cx="3291840" cy="304038"/>
          </a:xfrm>
          <a:prstGeom prst="roundRect">
            <a:avLst>
              <a:gd name="adj" fmla="val 0"/>
            </a:avLst>
          </a:prstGeom>
          <a:solidFill>
            <a:srgbClr val="FFF5E9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8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E1 </a:t>
            </a:r>
            <a:r>
              <a:rPr sz="118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如何</a:t>
            </a:r>
            <a:r>
              <a:rPr sz="118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表示</a:t>
            </a:r>
            <a:endParaRPr sz="1180" b="0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8394192" y="2180996"/>
            <a:ext cx="3291840" cy="304038"/>
          </a:xfrm>
          <a:prstGeom prst="roundRect">
            <a:avLst>
              <a:gd name="adj" fmla="val 0"/>
            </a:avLst>
          </a:prstGeom>
          <a:solidFill>
            <a:srgbClr val="FFF5E9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8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E2 纵向受控变化</a:t>
            </a:r>
            <a:endParaRPr sz="1180" b="0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8394192" y="2754325"/>
            <a:ext cx="3291840" cy="304038"/>
          </a:xfrm>
          <a:prstGeom prst="roundRect">
            <a:avLst>
              <a:gd name="adj" fmla="val 0"/>
            </a:avLst>
          </a:prstGeom>
          <a:solidFill>
            <a:srgbClr val="FFF5E9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8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E3 横向受控变化</a:t>
            </a:r>
            <a:endParaRPr sz="1180" b="0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8394192" y="3327654"/>
            <a:ext cx="3291840" cy="304038"/>
          </a:xfrm>
          <a:prstGeom prst="roundRect">
            <a:avLst>
              <a:gd name="adj" fmla="val 0"/>
            </a:avLst>
          </a:prstGeom>
          <a:solidFill>
            <a:srgbClr val="FFF5E9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8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E4 周车交互增量</a:t>
            </a:r>
            <a:endParaRPr sz="1180" b="0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8394192" y="3900983"/>
            <a:ext cx="3291840" cy="304038"/>
          </a:xfrm>
          <a:prstGeom prst="roundRect">
            <a:avLst>
              <a:gd name="adj" fmla="val 0"/>
            </a:avLst>
          </a:prstGeom>
          <a:solidFill>
            <a:srgbClr val="FFF5E9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80" b="0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E5 软件版本监控</a:t>
            </a:r>
            <a:endParaRPr sz="1180" b="0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8366760" y="4648048"/>
            <a:ext cx="3337560" cy="45171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8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统一评价：检测能力、误报率、版本检出率、可解释性、能力边界</a:t>
            </a:r>
            <a:endParaRPr sz="118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731520" y="5108448"/>
            <a:ext cx="10716768" cy="651510"/>
          </a:xfrm>
          <a:prstGeom prst="roundRect">
            <a:avLst>
              <a:gd name="adj" fmla="val 0"/>
            </a:avLst>
          </a:prstGeom>
          <a:solidFill>
            <a:srgbClr val="FFF3F3"/>
          </a:solidFill>
          <a:ln w="9525">
            <a:solidFill>
              <a:srgbClr val="E2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E2373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实验设计原则</a:t>
            </a:r>
            <a:endParaRPr sz="1400" b="1">
              <a:solidFill>
                <a:srgbClr val="E2373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先用物理指标确认规划器确实产生目标行为变化，再判断行为表示和BDD能否稳定检测</a:t>
            </a:r>
            <a:endParaRPr sz="11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0" y="0"/>
            <a:ext cx="12191362" cy="742950"/>
          </a:xfrm>
          <a:prstGeom prst="rect">
            <a:avLst/>
          </a:prstGeom>
          <a:solidFill>
            <a:srgbClr val="215B94"/>
          </a:solidFill>
          <a:ln w="0">
            <a:noFill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266700" y="47625"/>
            <a:ext cx="116586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  数据平台与实验设计</a:t>
            </a:r>
            <a:endParaRPr sz="21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66700" y="419100"/>
            <a:ext cx="116586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用真实轨迹学习行为，用闭环受控实验验证测量能力，再进入真实版本监控</a:t>
            </a:r>
            <a:endParaRPr sz="13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>
            <a:spLocks noGrp="1"/>
          </p:cNvSpPr>
          <p:nvPr/>
        </p:nvSpPr>
        <p:spPr>
          <a:xfrm>
            <a:off x="109728" y="73152"/>
            <a:ext cx="4892040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64592" anchor="ctr"/>
          <a:lstStyle/>
          <a:p>
            <a:pPr algn="l">
              <a:spcAft>
                <a:spcPts val="0"/>
              </a:spcAft>
              <a:buNone/>
              <a:defRPr sz="17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074920" y="73152"/>
            <a:ext cx="6967728" cy="393192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82880" anchor="ctr"/>
          <a:lstStyle/>
          <a:p>
            <a:pPr algn="l">
              <a:spcAft>
                <a:spcPts val="0"/>
              </a:spcAft>
              <a:buNone/>
              <a:defRPr sz="1070" b="0">
                <a:solidFill>
                  <a:srgbClr val="6D7A8E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201168" y="912724"/>
            <a:ext cx="708660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201168" y="912724"/>
            <a:ext cx="7086600" cy="469087"/>
          </a:xfrm>
          <a:prstGeom prst="roundRect">
            <a:avLst>
              <a:gd name="adj" fmla="val 0"/>
            </a:avLst>
          </a:prstGeom>
          <a:solidFill>
            <a:srgbClr val="215B94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Oval 5"/>
          <p:cNvSpPr>
            <a:spLocks noGrp="1"/>
          </p:cNvSpPr>
          <p:nvPr/>
        </p:nvSpPr>
        <p:spPr>
          <a:xfrm>
            <a:off x="329184" y="999592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2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731519" y="1016965"/>
            <a:ext cx="6464808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拟创新点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475488" y="1564234"/>
            <a:ext cx="6519672" cy="894740"/>
          </a:xfrm>
          <a:prstGeom prst="roundRect">
            <a:avLst>
              <a:gd name="adj" fmla="val 0"/>
            </a:avLst>
          </a:prstGeom>
          <a:solidFill>
            <a:srgbClr val="EDF4FA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① 软件版本行为漂移问题定义</a:t>
            </a:r>
            <a:endParaRPr sz="14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从“一个模型好不好”扩展到“两个可用版本的行为是否发生系统性变化”。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75488" y="2563216"/>
            <a:ext cx="6519672" cy="894740"/>
          </a:xfrm>
          <a:prstGeom prst="roundRect">
            <a:avLst>
              <a:gd name="adj" fmla="val 0"/>
            </a:avLst>
          </a:prstGeom>
          <a:solidFill>
            <a:srgbClr val="EEF7F3"/>
          </a:solidFill>
          <a:ln w="9525">
            <a:solidFill>
              <a:srgbClr val="347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② 同场景配对 + 异场景监控双协议</a:t>
            </a:r>
            <a:endParaRPr sz="14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针对策略归因和真实版本监控两个不同统计目标，分别构建评价方案。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475488" y="3562198"/>
            <a:ext cx="6519672" cy="894740"/>
          </a:xfrm>
          <a:prstGeom prst="roundRect">
            <a:avLst>
              <a:gd name="adj" fmla="val 0"/>
            </a:avLst>
          </a:prstGeom>
          <a:solidFill>
            <a:srgbClr val="FFF5E9"/>
          </a:solidFill>
          <a:ln w="9525">
            <a:solidFill>
              <a:srgbClr val="BB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③ 人工语义与学习式信息融合表示</a:t>
            </a:r>
            <a:endParaRPr sz="14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保留物理可解释语义，并验证人工摘要之外是否存在有效时序/交互增量。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475488" y="4561180"/>
            <a:ext cx="6519672" cy="894740"/>
          </a:xfrm>
          <a:prstGeom prst="roundRect">
            <a:avLst>
              <a:gd name="adj" fmla="val 0"/>
            </a:avLst>
          </a:prstGeom>
          <a:solidFill>
            <a:srgbClr val="F4F0FC"/>
          </a:solidFill>
          <a:ln w="9525">
            <a:solidFill>
              <a:srgbClr val="795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④ 统计检测与语义解释分离</a:t>
            </a:r>
            <a:endParaRPr sz="14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BDD判断是否变化；物理指标、场景切片和案例解释变化方向与工程意义。</a:t>
            </a:r>
            <a:endParaRPr sz="108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7543800" y="912724"/>
            <a:ext cx="4434840" cy="50209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7543800" y="912724"/>
            <a:ext cx="4434840" cy="469087"/>
          </a:xfrm>
          <a:prstGeom prst="roundRect">
            <a:avLst>
              <a:gd name="adj" fmla="val 0"/>
            </a:avLst>
          </a:prstGeom>
          <a:solidFill>
            <a:srgbClr val="08A0BF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Oval 13"/>
          <p:cNvSpPr>
            <a:spLocks noGrp="1"/>
          </p:cNvSpPr>
          <p:nvPr/>
        </p:nvSpPr>
        <p:spPr>
          <a:xfrm>
            <a:off x="7671816" y="999592"/>
            <a:ext cx="329184" cy="3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08A0B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200" b="1">
              <a:solidFill>
                <a:srgbClr val="08A0B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8074152" y="1016965"/>
            <a:ext cx="3813048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预期成果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7818120" y="1607668"/>
            <a:ext cx="3886200" cy="1259586"/>
          </a:xfrm>
          <a:prstGeom prst="roundRect">
            <a:avLst>
              <a:gd name="adj" fmla="val 0"/>
            </a:avLst>
          </a:prstGeom>
          <a:solidFill>
            <a:srgbClr val="EFF8FA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理论与方法</a:t>
            </a:r>
            <a:endParaRPr sz="145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轨迹级行为漂移形式化定义</a:t>
            </a:r>
            <a:endParaRPr sz="112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行为表示能力边界与双模式统计协议</a:t>
            </a:r>
            <a:endParaRPr sz="112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7818120" y="3049676"/>
            <a:ext cx="3886200" cy="1259586"/>
          </a:xfrm>
          <a:prstGeom prst="roundRect">
            <a:avLst>
              <a:gd name="adj" fmla="val 0"/>
            </a:avLst>
          </a:prstGeom>
          <a:solidFill>
            <a:srgbClr val="EFF8FA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工程工具</a:t>
            </a:r>
            <a:endParaRPr sz="145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轨迹处理、行为</a:t>
            </a:r>
            <a:r>
              <a:rPr sz="112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模型建立</a:t>
            </a:r>
            <a:r>
              <a:rPr sz="112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、BDD评价</a:t>
            </a:r>
            <a:endParaRPr sz="112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A/A背景标定、分场景分析、案例筛选</a:t>
            </a:r>
            <a:endParaRPr sz="112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7818120" y="4491685"/>
            <a:ext cx="3886200" cy="1085850"/>
          </a:xfrm>
          <a:prstGeom prst="roundRect">
            <a:avLst>
              <a:gd name="adj" fmla="val 0"/>
            </a:avLst>
          </a:prstGeom>
          <a:solidFill>
            <a:srgbClr val="EFF8FA"/>
          </a:solidFill>
          <a:ln w="9525">
            <a:solidFill>
              <a:srgbClr val="0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6304" tIns="109728" rIns="128016" bIns="73152" anchor="ctr">
            <a:noAutofit/>
          </a:bodyPr>
          <a:lstStyle/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最终产品</a:t>
            </a:r>
            <a:endParaRPr sz="145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端到端驾驶策略行为漂移报告</a:t>
            </a:r>
            <a:endParaRPr sz="112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支持研发、测试和软件版本决策</a:t>
            </a:r>
            <a:endParaRPr sz="112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146304" y="6199632"/>
            <a:ext cx="11905488" cy="457200"/>
          </a:xfrm>
          <a:prstGeom prst="roundRect">
            <a:avLst>
              <a:gd name="adj" fmla="val 0"/>
            </a:avLst>
          </a:prstGeom>
          <a:solidFill>
            <a:srgbClr val="E8F0F8"/>
          </a:solidFill>
          <a:ln w="952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博士论文最终要交付的不是一个64维模型，而是一套“数据—表示—统计—解释—报告”的完整行为评价方法。</a:t>
            </a:r>
            <a:endParaRPr sz="13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1362" cy="742950"/>
          </a:xfrm>
          <a:prstGeom prst="rect">
            <a:avLst/>
          </a:prstGeom>
          <a:solidFill>
            <a:srgbClr val="215B94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266700" y="47625"/>
            <a:ext cx="116586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lang="en-US"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r>
              <a: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创新点与预期成果</a:t>
            </a:r>
            <a:endParaRPr sz="21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66700" y="419100"/>
            <a:ext cx="116586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创新集中在“行为漂移评价方法体系”，最终形成可复现的工程工具链</a:t>
            </a:r>
            <a:endParaRPr sz="13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op-title-bar"/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215B94"/>
          </a:solidFill>
          <a:ln w="0">
            <a:solidFill>
              <a:srgbClr val="215B94"/>
            </a:solidFill>
            <a:prstDash val="solid"/>
          </a:ln>
        </p:spPr>
      </p:sp>
      <p:sp>
        <p:nvSpPr>
          <p:cNvPr id="2" name="slide-title"/>
          <p:cNvSpPr>
            <a:spLocks noGrp="1"/>
          </p:cNvSpPr>
          <p:nvPr/>
        </p:nvSpPr>
        <p:spPr>
          <a:xfrm>
            <a:off x="304800" y="47625"/>
            <a:ext cx="11582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lang="en-US"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.1  </a:t>
            </a:r>
            <a:r>
              <a:rPr lang="zh-CN"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已完成的部分研究成果</a:t>
            </a: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：第一代学习式行为表示模型训练与验证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304800" y="409575"/>
            <a:ext cx="1000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15" b="0">
                <a:solidFill>
                  <a:srgbClr val="DC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DC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基于Waymo真实驾驶轨迹训练、测试并冻结</a:t>
            </a:r>
            <a:r>
              <a:rPr lang="zh-CN" sz="1015" b="0">
                <a:solidFill>
                  <a:srgbClr val="DC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初版</a:t>
            </a:r>
            <a:r>
              <a:rPr lang="zh-CN" sz="1015" b="0">
                <a:solidFill>
                  <a:srgbClr val="DC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</a:t>
            </a:r>
            <a:endParaRPr lang="zh-CN" sz="1015" b="0">
              <a:solidFill>
                <a:srgbClr val="DCECF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panel-1"/>
          <p:cNvSpPr>
            <a:spLocks noGrp="1"/>
          </p:cNvSpPr>
          <p:nvPr/>
        </p:nvSpPr>
        <p:spPr>
          <a:xfrm>
            <a:off x="209550" y="914400"/>
            <a:ext cx="3714750" cy="50673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08A7B8"/>
            </a:solidFill>
            <a:prstDash val="solid"/>
          </a:ln>
        </p:spPr>
      </p:sp>
      <p:sp>
        <p:nvSpPr>
          <p:cNvPr id="5" name="panel-header-1"/>
          <p:cNvSpPr>
            <a:spLocks noGrp="1"/>
          </p:cNvSpPr>
          <p:nvPr/>
        </p:nvSpPr>
        <p:spPr>
          <a:xfrm>
            <a:off x="209550" y="914400"/>
            <a:ext cx="3714750" cy="457200"/>
          </a:xfrm>
          <a:prstGeom prst="roundRect">
            <a:avLst>
              <a:gd name="adj" fmla="val 25000"/>
            </a:avLst>
          </a:prstGeom>
          <a:solidFill>
            <a:srgbClr val="08A7B8"/>
          </a:solidFill>
          <a:ln w="0">
            <a:solidFill>
              <a:srgbClr val="08A7B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23850" y="990600"/>
            <a:ext cx="304800" cy="304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08A7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08A7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200" b="1">
              <a:solidFill>
                <a:srgbClr val="08A7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95250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数据与第一代模型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19100" y="1524000"/>
            <a:ext cx="1524000" cy="838200"/>
          </a:xfrm>
          <a:prstGeom prst="roundRect">
            <a:avLst>
              <a:gd name="adj" fmla="val 11364"/>
            </a:avLst>
          </a:prstGeom>
          <a:solidFill>
            <a:srgbClr val="F1FBFC"/>
          </a:solidFill>
          <a:ln w="9525">
            <a:solidFill>
              <a:srgbClr val="215B9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76250" y="1581150"/>
            <a:ext cx="1409700" cy="4610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21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164,871</a:t>
            </a:r>
            <a:endParaRPr sz="21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76250" y="2010156"/>
            <a:ext cx="1409700" cy="2849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rmAutofit/>
          </a:bodyPr>
          <a:lstStyle/>
          <a:p>
            <a:pPr algn="ctr">
              <a:defRPr sz="9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轨迹窗口</a:t>
            </a:r>
            <a:endParaRPr sz="94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152650" y="1524000"/>
            <a:ext cx="1562100" cy="838200"/>
          </a:xfrm>
          <a:prstGeom prst="roundRect">
            <a:avLst>
              <a:gd name="adj" fmla="val 11364"/>
            </a:avLst>
          </a:prstGeom>
          <a:solidFill>
            <a:srgbClr val="F1FBFC"/>
          </a:solidFill>
          <a:ln w="9525">
            <a:solidFill>
              <a:srgbClr val="215B9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209800" y="1581150"/>
            <a:ext cx="1447800" cy="4610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21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24,426</a:t>
            </a:r>
            <a:endParaRPr sz="21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209800" y="2010156"/>
            <a:ext cx="1447800" cy="2849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rmAutofit/>
          </a:bodyPr>
          <a:lstStyle/>
          <a:p>
            <a:pPr algn="ctr">
              <a:defRPr sz="9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独立场景</a:t>
            </a:r>
            <a:endParaRPr sz="94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19100" y="2400300"/>
            <a:ext cx="3295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defRPr sz="88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8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场景级互斥划分：训练 131,998 / 验证 16,481 / 测试 16,392</a:t>
            </a:r>
            <a:endParaRPr sz="885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2800350"/>
            <a:ext cx="2571750" cy="419100"/>
          </a:xfrm>
          <a:prstGeom prst="rect">
            <a:avLst/>
          </a:prstGeom>
          <a:solidFill>
            <a:srgbClr val="EDF6FB"/>
          </a:solidFill>
          <a:ln w="9525">
            <a:solidFill>
              <a:srgbClr val="215B94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0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Waymo</a:t>
            </a:r>
            <a:r>
              <a:rPr lang="en-US" sz="10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Motion Dataset</a:t>
            </a:r>
            <a:r>
              <a:rPr sz="10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真实驾驶轨迹</a:t>
            </a:r>
            <a:endParaRPr sz="105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下箭头 15"/>
          <p:cNvSpPr>
            <a:spLocks noGrp="1"/>
          </p:cNvSpPr>
          <p:nvPr/>
        </p:nvSpPr>
        <p:spPr>
          <a:xfrm>
            <a:off x="1981200" y="3238500"/>
            <a:ext cx="171450" cy="171450"/>
          </a:xfrm>
          <a:prstGeom prst="downArrow">
            <a:avLst/>
          </a:prstGeom>
          <a:solidFill>
            <a:srgbClr val="08A7B8"/>
          </a:solidFill>
          <a:ln w="0">
            <a:solidFill>
              <a:srgbClr val="08A7B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81050" y="3448050"/>
            <a:ext cx="2571750" cy="457200"/>
          </a:xfrm>
          <a:prstGeom prst="rect">
            <a:avLst/>
          </a:prstGeom>
          <a:solidFill>
            <a:srgbClr val="F4FBF8"/>
          </a:solidFill>
          <a:ln w="9525">
            <a:solidFill>
              <a:srgbClr val="347F70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015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自车 + </a:t>
            </a:r>
            <a:r>
              <a:rPr lang="zh-CN" altLang="en-US" sz="1015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基于车道语义分配的5个关键邻车</a:t>
            </a:r>
            <a:endParaRPr lang="zh-CN" altLang="en-US" sz="1015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下箭头 17"/>
          <p:cNvSpPr>
            <a:spLocks noGrp="1"/>
          </p:cNvSpPr>
          <p:nvPr/>
        </p:nvSpPr>
        <p:spPr>
          <a:xfrm>
            <a:off x="1981200" y="3924300"/>
            <a:ext cx="171450" cy="171450"/>
          </a:xfrm>
          <a:prstGeom prst="downArrow">
            <a:avLst/>
          </a:prstGeom>
          <a:solidFill>
            <a:srgbClr val="08A7B8"/>
          </a:solidFill>
          <a:ln w="0">
            <a:solidFill>
              <a:srgbClr val="08A7B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4133850"/>
            <a:ext cx="2571750" cy="419100"/>
          </a:xfrm>
          <a:prstGeom prst="rect">
            <a:avLst/>
          </a:prstGeom>
          <a:solidFill>
            <a:srgbClr val="FFF9EF"/>
          </a:solidFill>
          <a:ln w="9525">
            <a:solidFill>
              <a:srgbClr val="BB7E2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05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00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80帧 × 83维运动/交互时序输入（约8秒）</a:t>
            </a:r>
            <a:endParaRPr lang="zh-CN" altLang="en-US" sz="70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05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70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8维自车状态 + 5个语义邻车槽位 × 每车15维特征</a:t>
            </a:r>
            <a:endParaRPr lang="zh-CN" altLang="en-US" sz="70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下箭头 19"/>
          <p:cNvSpPr>
            <a:spLocks noGrp="1"/>
          </p:cNvSpPr>
          <p:nvPr/>
        </p:nvSpPr>
        <p:spPr>
          <a:xfrm>
            <a:off x="1981200" y="4572000"/>
            <a:ext cx="171450" cy="171450"/>
          </a:xfrm>
          <a:prstGeom prst="downArrow">
            <a:avLst/>
          </a:prstGeom>
          <a:solidFill>
            <a:srgbClr val="08A7B8"/>
          </a:solidFill>
          <a:ln w="0">
            <a:solidFill>
              <a:srgbClr val="08A7B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81050" y="4781550"/>
            <a:ext cx="2571750" cy="419100"/>
          </a:xfrm>
          <a:prstGeom prst="rect">
            <a:avLst/>
          </a:prstGeom>
          <a:solidFill>
            <a:srgbClr val="F8F5FC"/>
          </a:solidFill>
          <a:ln w="9525">
            <a:solidFill>
              <a:srgbClr val="7357A4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05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1层 GRU · 隐藏维度128</a:t>
            </a:r>
            <a:endParaRPr sz="1050" b="1">
              <a:solidFill>
                <a:srgbClr val="7357A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下箭头 21"/>
          <p:cNvSpPr>
            <a:spLocks noGrp="1"/>
          </p:cNvSpPr>
          <p:nvPr/>
        </p:nvSpPr>
        <p:spPr>
          <a:xfrm>
            <a:off x="1981200" y="5219700"/>
            <a:ext cx="171450" cy="171450"/>
          </a:xfrm>
          <a:prstGeom prst="downArrow">
            <a:avLst/>
          </a:prstGeom>
          <a:solidFill>
            <a:srgbClr val="08A7B8"/>
          </a:solidFill>
          <a:ln w="0">
            <a:solidFill>
              <a:srgbClr val="08A7B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81050" y="5429250"/>
            <a:ext cx="2571750" cy="400050"/>
          </a:xfrm>
          <a:prstGeom prst="rect">
            <a:avLst/>
          </a:prstGeom>
          <a:solidFill>
            <a:srgbClr val="EDF6FB"/>
          </a:solidFill>
          <a:ln w="9525">
            <a:solidFill>
              <a:srgbClr val="215B94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0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0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投影</a:t>
            </a:r>
            <a:r>
              <a:rPr sz="10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64维行为表示</a:t>
            </a:r>
            <a:endParaRPr sz="105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panel-2"/>
          <p:cNvSpPr>
            <a:spLocks noGrp="1"/>
          </p:cNvSpPr>
          <p:nvPr/>
        </p:nvSpPr>
        <p:spPr>
          <a:xfrm>
            <a:off x="4238625" y="914400"/>
            <a:ext cx="3714750" cy="50673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347F70"/>
            </a:solidFill>
            <a:prstDash val="solid"/>
          </a:ln>
        </p:spPr>
      </p:sp>
      <p:sp>
        <p:nvSpPr>
          <p:cNvPr id="26" name="panel-header-2"/>
          <p:cNvSpPr>
            <a:spLocks noGrp="1"/>
          </p:cNvSpPr>
          <p:nvPr/>
        </p:nvSpPr>
        <p:spPr>
          <a:xfrm>
            <a:off x="4238625" y="914400"/>
            <a:ext cx="3714750" cy="457200"/>
          </a:xfrm>
          <a:prstGeom prst="roundRect">
            <a:avLst>
              <a:gd name="adj" fmla="val 25000"/>
            </a:avLst>
          </a:prstGeom>
          <a:solidFill>
            <a:srgbClr val="347F70"/>
          </a:solidFill>
          <a:ln w="0">
            <a:solidFill>
              <a:srgbClr val="347F70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352925" y="990600"/>
            <a:ext cx="304800" cy="304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200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733925" y="95250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第一代</a:t>
            </a:r>
            <a:r>
              <a:rPr lang="zh-CN"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</a:t>
            </a: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能力画像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400550" y="1419225"/>
            <a:ext cx="3390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defRPr sz="114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4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64D相对人工特征的语义保持能力</a:t>
            </a:r>
            <a:endParaRPr sz="1140" b="1">
              <a:solidFill>
                <a:srgbClr val="174A7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400550" y="1666875"/>
            <a:ext cx="33909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ctr">
              <a:defRPr sz="81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Δρ = 64D相关性 − 人工特征相关性</a:t>
            </a:r>
            <a:endParaRPr sz="810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400550" y="1847850"/>
            <a:ext cx="3390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ctr">
              <a:defRPr sz="69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9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比较：表示空间距离与真实物理行为差异的相关程度</a:t>
            </a:r>
            <a:endParaRPr sz="690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219700" y="2000250"/>
            <a:ext cx="9810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defRPr sz="705" b="0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人工特征更强  ←</a:t>
            </a:r>
            <a:endParaRPr sz="705" b="0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276975" y="2000250"/>
            <a:ext cx="9334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l">
              <a:defRPr sz="705" b="0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  64D更强</a:t>
            </a:r>
            <a:endParaRPr sz="705" b="0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286625" y="19907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3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3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优于基线</a:t>
            </a:r>
            <a:endParaRPr sz="630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cleanv2-zero-line"/>
          <p:cNvSpPr>
            <a:spLocks noGrp="1"/>
          </p:cNvSpPr>
          <p:nvPr/>
        </p:nvSpPr>
        <p:spPr>
          <a:xfrm>
            <a:off x="6238875" y="2171700"/>
            <a:ext cx="19050" cy="1352550"/>
          </a:xfrm>
          <a:prstGeom prst="rect">
            <a:avLst/>
          </a:prstGeom>
          <a:solidFill>
            <a:srgbClr val="174A7C"/>
          </a:solidFill>
          <a:ln w="0">
            <a:solidFill>
              <a:srgbClr val="174A7C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381500" y="218122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19050" bIns="0" anchor="ctr">
            <a:normAutofit/>
          </a:bodyPr>
          <a:lstStyle/>
          <a:p>
            <a:pPr algn="r">
              <a:defRPr sz="8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纵向舒适性</a:t>
            </a:r>
            <a:endParaRPr sz="8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257800" y="2286000"/>
            <a:ext cx="1752600" cy="11430"/>
          </a:xfrm>
          <a:prstGeom prst="rect">
            <a:avLst/>
          </a:prstGeom>
          <a:solidFill>
            <a:srgbClr val="D8E5ED"/>
          </a:solidFill>
          <a:ln w="0">
            <a:solidFill>
              <a:srgbClr val="D8E5ED"/>
            </a:solidFill>
            <a:prstDash val="solid"/>
          </a:ln>
        </p:spPr>
      </p:sp>
      <p:sp>
        <p:nvSpPr>
          <p:cNvPr id="38" name="ability-bar-1"/>
          <p:cNvSpPr>
            <a:spLocks noGrp="1"/>
          </p:cNvSpPr>
          <p:nvPr/>
        </p:nvSpPr>
        <p:spPr>
          <a:xfrm>
            <a:off x="5870487" y="2228850"/>
            <a:ext cx="377913" cy="123825"/>
          </a:xfrm>
          <a:prstGeom prst="roundRect">
            <a:avLst>
              <a:gd name="adj" fmla="val 46154"/>
            </a:avLst>
          </a:prstGeom>
          <a:solidFill>
            <a:srgbClr val="BB7E28"/>
          </a:solidFill>
          <a:ln w="0">
            <a:solidFill>
              <a:srgbClr val="BB7E28"/>
            </a:solidFill>
            <a:prstDash val="solid"/>
          </a:ln>
        </p:spPr>
      </p:sp>
      <p:sp>
        <p:nvSpPr>
          <p:cNvPr id="39" name="ability-dot-1"/>
          <p:cNvSpPr>
            <a:spLocks noGrp="1"/>
          </p:cNvSpPr>
          <p:nvPr/>
        </p:nvSpPr>
        <p:spPr>
          <a:xfrm>
            <a:off x="5822862" y="2243138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B7E28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346612" y="219075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defRPr sz="765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−0.0216</a:t>
            </a:r>
            <a:endParaRPr sz="765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381875" y="21907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3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3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0/4</a:t>
            </a:r>
            <a:endParaRPr sz="735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381500" y="246697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19050" bIns="0" anchor="ctr">
            <a:normAutofit/>
          </a:bodyPr>
          <a:lstStyle/>
          <a:p>
            <a:pPr algn="r">
              <a:defRPr sz="87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7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跟驰交互</a:t>
            </a:r>
            <a:endParaRPr sz="870" b="1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257800" y="2571750"/>
            <a:ext cx="1752600" cy="11430"/>
          </a:xfrm>
          <a:prstGeom prst="rect">
            <a:avLst/>
          </a:prstGeom>
          <a:solidFill>
            <a:srgbClr val="D8E5ED"/>
          </a:solidFill>
          <a:ln w="0">
            <a:solidFill>
              <a:srgbClr val="D8E5ED"/>
            </a:solidFill>
            <a:prstDash val="solid"/>
          </a:ln>
        </p:spPr>
      </p:sp>
      <p:sp>
        <p:nvSpPr>
          <p:cNvPr id="44" name="ability-bar-2"/>
          <p:cNvSpPr>
            <a:spLocks noGrp="1"/>
          </p:cNvSpPr>
          <p:nvPr/>
        </p:nvSpPr>
        <p:spPr>
          <a:xfrm>
            <a:off x="6248400" y="2514600"/>
            <a:ext cx="469066" cy="123825"/>
          </a:xfrm>
          <a:prstGeom prst="roundRect">
            <a:avLst>
              <a:gd name="adj" fmla="val 46154"/>
            </a:avLst>
          </a:prstGeom>
          <a:solidFill>
            <a:srgbClr val="347F70"/>
          </a:solidFill>
          <a:ln w="0">
            <a:solidFill>
              <a:srgbClr val="347F70"/>
            </a:solidFill>
            <a:prstDash val="solid"/>
          </a:ln>
        </p:spPr>
      </p:sp>
      <p:sp>
        <p:nvSpPr>
          <p:cNvPr id="45" name="ability-dot-2"/>
          <p:cNvSpPr>
            <a:spLocks noGrp="1"/>
          </p:cNvSpPr>
          <p:nvPr/>
        </p:nvSpPr>
        <p:spPr>
          <a:xfrm>
            <a:off x="6669841" y="2528888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47F70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755566" y="24765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defRPr sz="765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+0.0268</a:t>
            </a:r>
            <a:endParaRPr sz="765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381875" y="24765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3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3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7/8</a:t>
            </a:r>
            <a:endParaRPr sz="735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4381500" y="275272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19050" bIns="0" anchor="ctr">
            <a:normAutofit/>
          </a:bodyPr>
          <a:lstStyle/>
          <a:p>
            <a:pPr algn="r">
              <a:defRPr sz="87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7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横向运动动态</a:t>
            </a:r>
            <a:endParaRPr sz="870" b="1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257800" y="2857500"/>
            <a:ext cx="1752600" cy="11430"/>
          </a:xfrm>
          <a:prstGeom prst="rect">
            <a:avLst/>
          </a:prstGeom>
          <a:solidFill>
            <a:srgbClr val="D8E5ED"/>
          </a:solidFill>
          <a:ln w="0">
            <a:solidFill>
              <a:srgbClr val="D8E5ED"/>
            </a:solidFill>
            <a:prstDash val="solid"/>
          </a:ln>
        </p:spPr>
      </p:sp>
      <p:sp>
        <p:nvSpPr>
          <p:cNvPr id="50" name="ability-bar-3"/>
          <p:cNvSpPr>
            <a:spLocks noGrp="1"/>
          </p:cNvSpPr>
          <p:nvPr/>
        </p:nvSpPr>
        <p:spPr>
          <a:xfrm>
            <a:off x="6248400" y="2800350"/>
            <a:ext cx="751795" cy="123825"/>
          </a:xfrm>
          <a:prstGeom prst="roundRect">
            <a:avLst>
              <a:gd name="adj" fmla="val 46154"/>
            </a:avLst>
          </a:prstGeom>
          <a:solidFill>
            <a:srgbClr val="215B94"/>
          </a:solidFill>
          <a:ln w="0">
            <a:solidFill>
              <a:srgbClr val="215B94"/>
            </a:solidFill>
            <a:prstDash val="solid"/>
          </a:ln>
        </p:spPr>
      </p:sp>
      <p:sp>
        <p:nvSpPr>
          <p:cNvPr id="51" name="ability-dot-3"/>
          <p:cNvSpPr>
            <a:spLocks noGrp="1"/>
          </p:cNvSpPr>
          <p:nvPr/>
        </p:nvSpPr>
        <p:spPr>
          <a:xfrm>
            <a:off x="6952570" y="2814638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5B94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476320" y="276225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defRPr sz="76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+0.0429</a:t>
            </a:r>
            <a:endParaRPr sz="76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7381875" y="27622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3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3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8/8</a:t>
            </a:r>
            <a:endParaRPr sz="735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4381500" y="303847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19050" bIns="0" anchor="ctr">
            <a:normAutofit/>
          </a:bodyPr>
          <a:lstStyle/>
          <a:p>
            <a:pPr algn="r">
              <a:defRPr sz="8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横向间隙交互</a:t>
            </a:r>
            <a:endParaRPr sz="8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5257800" y="3143250"/>
            <a:ext cx="1752600" cy="11430"/>
          </a:xfrm>
          <a:prstGeom prst="rect">
            <a:avLst/>
          </a:prstGeom>
          <a:solidFill>
            <a:srgbClr val="D8E5ED"/>
          </a:solidFill>
          <a:ln w="0">
            <a:solidFill>
              <a:srgbClr val="D8E5ED"/>
            </a:solidFill>
            <a:prstDash val="solid"/>
          </a:ln>
        </p:spPr>
      </p:sp>
      <p:sp>
        <p:nvSpPr>
          <p:cNvPr id="56" name="ability-bar-4"/>
          <p:cNvSpPr>
            <a:spLocks noGrp="1"/>
          </p:cNvSpPr>
          <p:nvPr/>
        </p:nvSpPr>
        <p:spPr>
          <a:xfrm>
            <a:off x="5480411" y="3086100"/>
            <a:ext cx="767989" cy="123825"/>
          </a:xfrm>
          <a:prstGeom prst="roundRect">
            <a:avLst>
              <a:gd name="adj" fmla="val 46154"/>
            </a:avLst>
          </a:prstGeom>
          <a:solidFill>
            <a:srgbClr val="C64A43"/>
          </a:solidFill>
          <a:ln w="0">
            <a:solidFill>
              <a:srgbClr val="C64A43"/>
            </a:solidFill>
            <a:prstDash val="solid"/>
          </a:ln>
        </p:spPr>
      </p:sp>
      <p:sp>
        <p:nvSpPr>
          <p:cNvPr id="57" name="ability-dot-4"/>
          <p:cNvSpPr>
            <a:spLocks noGrp="1"/>
          </p:cNvSpPr>
          <p:nvPr/>
        </p:nvSpPr>
        <p:spPr>
          <a:xfrm>
            <a:off x="5432786" y="3100388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64A43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5518511" y="30480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defRPr sz="76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−0.0438</a:t>
            </a:r>
            <a:endParaRPr sz="76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7381875" y="30480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3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3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0/8</a:t>
            </a:r>
            <a:endParaRPr sz="735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4381500" y="332422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19050" bIns="0" anchor="ctr">
            <a:normAutofit/>
          </a:bodyPr>
          <a:lstStyle/>
          <a:p>
            <a:pPr algn="r">
              <a:defRPr sz="8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7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行为代理</a:t>
            </a:r>
            <a:endParaRPr sz="87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5257800" y="3429000"/>
            <a:ext cx="1752600" cy="11430"/>
          </a:xfrm>
          <a:prstGeom prst="rect">
            <a:avLst/>
          </a:prstGeom>
          <a:solidFill>
            <a:srgbClr val="D8E5ED"/>
          </a:solidFill>
          <a:ln w="0">
            <a:solidFill>
              <a:srgbClr val="D8E5ED"/>
            </a:solidFill>
            <a:prstDash val="solid"/>
          </a:ln>
        </p:spPr>
      </p:sp>
      <p:sp>
        <p:nvSpPr>
          <p:cNvPr id="62" name="ability-bar-5"/>
          <p:cNvSpPr>
            <a:spLocks noGrp="1"/>
          </p:cNvSpPr>
          <p:nvPr/>
        </p:nvSpPr>
        <p:spPr>
          <a:xfrm>
            <a:off x="6248400" y="3371850"/>
            <a:ext cx="325090" cy="123825"/>
          </a:xfrm>
          <a:prstGeom prst="roundRect">
            <a:avLst>
              <a:gd name="adj" fmla="val 46154"/>
            </a:avLst>
          </a:prstGeom>
          <a:solidFill>
            <a:srgbClr val="347F70"/>
          </a:solidFill>
          <a:ln w="0">
            <a:solidFill>
              <a:srgbClr val="347F70"/>
            </a:solidFill>
            <a:prstDash val="solid"/>
          </a:ln>
        </p:spPr>
      </p:sp>
      <p:sp>
        <p:nvSpPr>
          <p:cNvPr id="63" name="ability-dot-5"/>
          <p:cNvSpPr>
            <a:spLocks noGrp="1"/>
          </p:cNvSpPr>
          <p:nvPr/>
        </p:nvSpPr>
        <p:spPr>
          <a:xfrm>
            <a:off x="6525865" y="3386138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47F70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6611590" y="333375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defRPr sz="765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+0.0185</a:t>
            </a:r>
            <a:endParaRPr sz="765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7381875" y="33337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3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3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1/2</a:t>
            </a:r>
            <a:endParaRPr sz="735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5181600" y="356235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66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−0.05</a:t>
            </a:r>
            <a:endParaRPr sz="660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6172200" y="3562350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6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endParaRPr sz="660" b="1">
              <a:solidFill>
                <a:srgbClr val="174A7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6819900" y="3562350"/>
            <a:ext cx="381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66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+0.05</a:t>
            </a:r>
            <a:endParaRPr sz="660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4400550" y="3724275"/>
            <a:ext cx="3390900" cy="504825"/>
          </a:xfrm>
          <a:prstGeom prst="rect">
            <a:avLst/>
          </a:prstGeom>
          <a:solidFill>
            <a:srgbClr val="EDF6FB"/>
          </a:solidFill>
          <a:ln w="9525">
            <a:solidFill>
              <a:srgbClr val="7CCED7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79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ρ衡量“表示空间中的远近”是否与真实物理行为差异同步变化；</a:t>
            </a:r>
            <a:endParaRPr sz="790" b="1">
              <a:solidFill>
                <a:srgbClr val="174A7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9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Δρ&gt;0表示64D这种对应关系更强，Δρ&lt;0表示人工特征更强。</a:t>
            </a:r>
            <a:endParaRPr sz="790" b="1">
              <a:solidFill>
                <a:srgbClr val="174A7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0" name="panel-3"/>
          <p:cNvSpPr>
            <a:spLocks noGrp="1"/>
          </p:cNvSpPr>
          <p:nvPr/>
        </p:nvSpPr>
        <p:spPr>
          <a:xfrm>
            <a:off x="8267700" y="914400"/>
            <a:ext cx="3714750" cy="50673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BB7E28"/>
            </a:solidFill>
            <a:prstDash val="solid"/>
          </a:ln>
        </p:spPr>
      </p:sp>
      <p:sp>
        <p:nvSpPr>
          <p:cNvPr id="91" name="panel-header-3"/>
          <p:cNvSpPr>
            <a:spLocks noGrp="1"/>
          </p:cNvSpPr>
          <p:nvPr/>
        </p:nvSpPr>
        <p:spPr>
          <a:xfrm>
            <a:off x="8267700" y="914400"/>
            <a:ext cx="3714750" cy="457200"/>
          </a:xfrm>
          <a:prstGeom prst="roundRect">
            <a:avLst>
              <a:gd name="adj" fmla="val 25000"/>
            </a:avLst>
          </a:prstGeom>
          <a:solidFill>
            <a:srgbClr val="BB7E28"/>
          </a:solidFill>
          <a:ln w="0">
            <a:solidFill>
              <a:srgbClr val="BB7E28"/>
            </a:solidFill>
            <a:prstDash val="solid"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8382000" y="990600"/>
            <a:ext cx="304800" cy="304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20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8763000" y="95250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冻结与后续应用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8905875" y="1504950"/>
            <a:ext cx="2438400" cy="371475"/>
          </a:xfrm>
          <a:prstGeom prst="rect">
            <a:avLst/>
          </a:prstGeom>
          <a:solidFill>
            <a:srgbClr val="EDF6FB"/>
          </a:solidFill>
          <a:ln w="9525">
            <a:solidFill>
              <a:srgbClr val="215B94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015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Waymo训练</a:t>
            </a:r>
            <a:endParaRPr sz="1015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5" name="下箭头 94"/>
          <p:cNvSpPr>
            <a:spLocks noGrp="1"/>
          </p:cNvSpPr>
          <p:nvPr/>
        </p:nvSpPr>
        <p:spPr>
          <a:xfrm>
            <a:off x="10039350" y="1895475"/>
            <a:ext cx="171450" cy="171450"/>
          </a:xfrm>
          <a:prstGeom prst="downArrow">
            <a:avLst/>
          </a:prstGeom>
          <a:solidFill>
            <a:srgbClr val="BB7E28"/>
          </a:solidFill>
          <a:ln w="0">
            <a:solidFill>
              <a:srgbClr val="BB7E28"/>
            </a:solidFill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8905875" y="2085975"/>
            <a:ext cx="2438400" cy="371475"/>
          </a:xfrm>
          <a:prstGeom prst="rect">
            <a:avLst/>
          </a:prstGeom>
          <a:solidFill>
            <a:srgbClr val="F4FBF8"/>
          </a:solidFill>
          <a:ln w="9525">
            <a:solidFill>
              <a:srgbClr val="347F70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015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独立Waymo测试验证</a:t>
            </a:r>
            <a:endParaRPr sz="1015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7" name="下箭头 96"/>
          <p:cNvSpPr>
            <a:spLocks noGrp="1"/>
          </p:cNvSpPr>
          <p:nvPr/>
        </p:nvSpPr>
        <p:spPr>
          <a:xfrm>
            <a:off x="10039350" y="2476500"/>
            <a:ext cx="171450" cy="171450"/>
          </a:xfrm>
          <a:prstGeom prst="downArrow">
            <a:avLst/>
          </a:prstGeom>
          <a:solidFill>
            <a:srgbClr val="BB7E28"/>
          </a:solidFill>
          <a:ln w="0">
            <a:solidFill>
              <a:srgbClr val="BB7E28"/>
            </a:solidFill>
            <a:prstDash val="solid"/>
          </a:ln>
        </p:spPr>
      </p:sp>
      <p:sp>
        <p:nvSpPr>
          <p:cNvPr id="98" name="矩形 97"/>
          <p:cNvSpPr>
            <a:spLocks noGrp="1"/>
          </p:cNvSpPr>
          <p:nvPr/>
        </p:nvSpPr>
        <p:spPr>
          <a:xfrm>
            <a:off x="8905875" y="2667000"/>
            <a:ext cx="2438400" cy="371475"/>
          </a:xfrm>
          <a:prstGeom prst="rect">
            <a:avLst/>
          </a:prstGeom>
          <a:solidFill>
            <a:srgbClr val="FFF9EF"/>
          </a:solidFill>
          <a:ln w="9525">
            <a:solidFill>
              <a:srgbClr val="BB7E2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015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64维模型权重冻结</a:t>
            </a:r>
            <a:endParaRPr sz="1015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9" name="下箭头 98"/>
          <p:cNvSpPr>
            <a:spLocks noGrp="1"/>
          </p:cNvSpPr>
          <p:nvPr/>
        </p:nvSpPr>
        <p:spPr>
          <a:xfrm>
            <a:off x="10039350" y="3057525"/>
            <a:ext cx="171450" cy="171450"/>
          </a:xfrm>
          <a:prstGeom prst="downArrow">
            <a:avLst/>
          </a:prstGeom>
          <a:solidFill>
            <a:srgbClr val="BB7E28"/>
          </a:solidFill>
          <a:ln w="0">
            <a:solidFill>
              <a:srgbClr val="BB7E28"/>
            </a:solidFill>
            <a:prstDash val="solid"/>
          </a:ln>
        </p:spPr>
      </p:sp>
      <p:sp>
        <p:nvSpPr>
          <p:cNvPr id="100" name="矩形 99"/>
          <p:cNvSpPr>
            <a:spLocks noGrp="1"/>
          </p:cNvSpPr>
          <p:nvPr/>
        </p:nvSpPr>
        <p:spPr>
          <a:xfrm>
            <a:off x="8905875" y="3248025"/>
            <a:ext cx="2438400" cy="371475"/>
          </a:xfrm>
          <a:prstGeom prst="rect">
            <a:avLst/>
          </a:prstGeom>
          <a:solidFill>
            <a:srgbClr val="F8F5FC"/>
          </a:solidFill>
          <a:ln w="9525">
            <a:solidFill>
              <a:srgbClr val="7357A4"/>
            </a:solidFill>
            <a:prstDash val="solid"/>
          </a:ln>
        </p:spPr>
        <p:txBody>
          <a:bodyPr wrap="square" lIns="47625" tIns="28575" rIns="47625" bIns="28575" anchor="ctr">
            <a:normAutofit lnSpcReduction="10000"/>
          </a:bodyPr>
          <a:lstStyle/>
          <a:p>
            <a:pPr algn="ctr">
              <a:defRPr sz="1015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作为固定行为表示基线</a:t>
            </a:r>
            <a:endParaRPr sz="1015" b="1">
              <a:solidFill>
                <a:srgbClr val="7357A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015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只读使用</a:t>
            </a:r>
            <a:endParaRPr sz="1015" b="1">
              <a:solidFill>
                <a:srgbClr val="7357A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1" name="下箭头 100"/>
          <p:cNvSpPr>
            <a:spLocks noGrp="1"/>
          </p:cNvSpPr>
          <p:nvPr/>
        </p:nvSpPr>
        <p:spPr>
          <a:xfrm>
            <a:off x="10039350" y="3638550"/>
            <a:ext cx="171450" cy="171450"/>
          </a:xfrm>
          <a:prstGeom prst="downArrow">
            <a:avLst/>
          </a:prstGeom>
          <a:solidFill>
            <a:srgbClr val="BB7E28"/>
          </a:solidFill>
          <a:ln w="0">
            <a:solidFill>
              <a:srgbClr val="BB7E28"/>
            </a:solidFill>
            <a:prstDash val="solid"/>
          </a:ln>
        </p:spPr>
      </p:sp>
      <p:sp>
        <p:nvSpPr>
          <p:cNvPr id="102" name="矩形 101"/>
          <p:cNvSpPr>
            <a:spLocks noGrp="1"/>
          </p:cNvSpPr>
          <p:nvPr/>
        </p:nvSpPr>
        <p:spPr>
          <a:xfrm>
            <a:off x="8905875" y="3829050"/>
            <a:ext cx="2438400" cy="371475"/>
          </a:xfrm>
          <a:prstGeom prst="rect">
            <a:avLst/>
          </a:prstGeom>
          <a:solidFill>
            <a:srgbClr val="F4FBF8"/>
          </a:solidFill>
          <a:ln w="9525">
            <a:solidFill>
              <a:srgbClr val="347F70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015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nuPlan仅用于外部验证</a:t>
            </a:r>
            <a:endParaRPr sz="1015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3" name="下箭头 102"/>
          <p:cNvSpPr>
            <a:spLocks noGrp="1"/>
          </p:cNvSpPr>
          <p:nvPr/>
        </p:nvSpPr>
        <p:spPr>
          <a:xfrm>
            <a:off x="10039350" y="4219575"/>
            <a:ext cx="171450" cy="171450"/>
          </a:xfrm>
          <a:prstGeom prst="downArrow">
            <a:avLst/>
          </a:prstGeom>
          <a:solidFill>
            <a:srgbClr val="BB7E28"/>
          </a:solidFill>
          <a:ln w="0">
            <a:solidFill>
              <a:srgbClr val="BB7E28"/>
            </a:solidFill>
            <a:prstDash val="solid"/>
          </a:ln>
        </p:spPr>
      </p:sp>
      <p:sp>
        <p:nvSpPr>
          <p:cNvPr id="104" name="矩形 103"/>
          <p:cNvSpPr>
            <a:spLocks noGrp="1"/>
          </p:cNvSpPr>
          <p:nvPr/>
        </p:nvSpPr>
        <p:spPr>
          <a:xfrm>
            <a:off x="8905875" y="4410075"/>
            <a:ext cx="2438400" cy="371475"/>
          </a:xfrm>
          <a:prstGeom prst="rect">
            <a:avLst/>
          </a:prstGeom>
          <a:solidFill>
            <a:srgbClr val="EDF6FB"/>
          </a:solidFill>
          <a:ln w="9525">
            <a:solidFill>
              <a:srgbClr val="215B94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015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后续闭环BDD实验</a:t>
            </a:r>
            <a:endParaRPr sz="1015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8858250" y="5105400"/>
            <a:ext cx="2533650" cy="742950"/>
          </a:xfrm>
          <a:prstGeom prst="rect">
            <a:avLst/>
          </a:prstGeom>
          <a:solidFill>
            <a:srgbClr val="EDF6FB"/>
          </a:solidFill>
          <a:ln w="11430">
            <a:solidFill>
              <a:srgbClr val="215B94"/>
            </a:solidFill>
            <a:prstDash val="solid"/>
          </a:ln>
        </p:spPr>
        <p:txBody>
          <a:bodyPr wrap="square" lIns="57150" tIns="47625" rIns="57150" bIns="47625" anchor="ctr">
            <a:normAutofit/>
          </a:bodyPr>
          <a:lstStyle/>
          <a:p>
            <a:pPr algn="ctr">
              <a:defRPr sz="120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第一代表征已形成</a:t>
            </a:r>
            <a:endParaRPr sz="1200" b="1">
              <a:solidFill>
                <a:srgbClr val="174A7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20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可冻结研究基线</a:t>
            </a:r>
            <a:endParaRPr sz="1200" b="1">
              <a:solidFill>
                <a:srgbClr val="174A7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20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≠ 博士论文最终表示</a:t>
            </a:r>
            <a:endParaRPr sz="1200" b="1">
              <a:solidFill>
                <a:srgbClr val="174A7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7" name="bottom-conclusion"/>
          <p:cNvSpPr>
            <a:spLocks noGrp="1"/>
          </p:cNvSpPr>
          <p:nvPr/>
        </p:nvSpPr>
        <p:spPr>
          <a:xfrm>
            <a:off x="152400" y="6191250"/>
            <a:ext cx="11887200" cy="457200"/>
          </a:xfrm>
          <a:prstGeom prst="rect">
            <a:avLst/>
          </a:prstGeom>
          <a:solidFill>
            <a:srgbClr val="EDF6FB"/>
          </a:solidFill>
          <a:ln w="0">
            <a:noFill/>
            <a:prstDash val="solid"/>
          </a:ln>
        </p:spPr>
        <p:txBody>
          <a:bodyPr wrap="square" lIns="114300" tIns="47625" rIns="114300" bIns="47625" anchor="ctr">
            <a:normAutofit/>
          </a:bodyPr>
          <a:lstStyle/>
          <a:p>
            <a:pPr algn="ctr">
              <a:defRPr sz="96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第一代64D已形成非随机、可复用的行为表示，跟驰与横向运动动态较强，纵向舒适性和横向间隙仍存在不足。</a:t>
            </a:r>
            <a:endParaRPr sz="960" b="1">
              <a:solidFill>
                <a:srgbClr val="174A7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11480800" y="1604010"/>
            <a:ext cx="309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✅</a:t>
            </a:r>
            <a:endParaRPr lang="zh-CN" altLang="en-US"/>
          </a:p>
        </p:txBody>
      </p:sp>
      <p:sp>
        <p:nvSpPr>
          <p:cNvPr id="110" name="文本框 109"/>
          <p:cNvSpPr txBox="1"/>
          <p:nvPr/>
        </p:nvSpPr>
        <p:spPr>
          <a:xfrm>
            <a:off x="11480800" y="2157095"/>
            <a:ext cx="309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✅</a:t>
            </a:r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11480800" y="2745740"/>
            <a:ext cx="309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✅</a:t>
            </a:r>
            <a:endParaRPr lang="zh-CN" altLang="en-US"/>
          </a:p>
        </p:txBody>
      </p:sp>
      <p:sp>
        <p:nvSpPr>
          <p:cNvPr id="112" name="文本框 111"/>
          <p:cNvSpPr txBox="1"/>
          <p:nvPr/>
        </p:nvSpPr>
        <p:spPr>
          <a:xfrm>
            <a:off x="11480800" y="3327400"/>
            <a:ext cx="309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✅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" name="矩形 42"/>
          <p:cNvSpPr>
            <a:spLocks noGrp="1"/>
          </p:cNvSpPr>
          <p:nvPr/>
        </p:nvSpPr>
        <p:spPr>
          <a:xfrm>
            <a:off x="0" y="0"/>
            <a:ext cx="12191365" cy="742950"/>
          </a:xfrm>
          <a:prstGeom prst="rect">
            <a:avLst/>
          </a:prstGeom>
          <a:solidFill>
            <a:srgbClr val="245A91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295275" y="57150"/>
            <a:ext cx="11525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>
                <a:sym typeface="+mn-ea"/>
              </a:rPr>
              <a:t>1</a:t>
            </a:r>
            <a:r>
              <a:rPr lang="en-US">
                <a:sym typeface="+mn-ea"/>
              </a:rPr>
              <a:t>1</a:t>
            </a:r>
            <a:r>
              <a:rPr>
                <a:sym typeface="+mn-ea"/>
              </a:rPr>
              <a:t>.1  </a:t>
            </a:r>
            <a:r>
              <a:rPr lang="zh-CN">
                <a:sym typeface="+mn-ea"/>
              </a:rPr>
              <a:t>已完成的部分研究成果</a:t>
            </a:r>
            <a:r>
              <a:rPr>
                <a:sym typeface="+mn-ea"/>
              </a:rPr>
              <a:t>：</a:t>
            </a:r>
            <a:r>
              <a: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lang="zh-CN"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</a:t>
            </a:r>
            <a:r>
              <a:rPr lang="en-US" altLang="zh-CN"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- </a:t>
            </a:r>
            <a:r>
              <a: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Waymo真实驾驶轨迹场景示例</a:t>
            </a:r>
            <a:endParaRPr sz="17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295275" y="428625"/>
            <a:ext cx="10953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050" b="0">
                <a:solidFill>
                  <a:srgbClr val="DD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DD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真实样例：离线Scenario轨迹真值与第一代模型的使用范围</a:t>
            </a:r>
            <a:endParaRPr sz="1050" b="0">
              <a:solidFill>
                <a:srgbClr val="DDECF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869660"/>
            <a:ext cx="5819775" cy="553778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096000" y="914400"/>
            <a:ext cx="5810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5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Waymo Motion Scenario · 离线轨迹真值</a:t>
            </a:r>
            <a:endParaRPr sz="157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0" y="1276350"/>
            <a:ext cx="5810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 Hz · 原始约9秒；80帧窗口 / 名义约8秒</a:t>
            </a:r>
            <a:endParaRPr sz="13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0" y="1571625"/>
            <a:ext cx="5810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42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75 m内该时刻轨迹真值有效参与者：36</a:t>
            </a:r>
            <a:endParaRPr sz="142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18669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车辆34 · 行人2 · 骑行者0</a:t>
            </a:r>
            <a:endParaRPr sz="13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0" y="2162175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冻结邻车槽位：整窗4/5 · 显示帧4/5</a:t>
            </a:r>
            <a:endParaRPr sz="13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0" y="2447925"/>
            <a:ext cx="581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左前为空槽，不人工补选</a:t>
            </a:r>
            <a:endParaRPr sz="1275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0" y="2790825"/>
            <a:ext cx="5810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0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Scenario轨迹真值 ≠ 在线感知视野</a:t>
            </a:r>
            <a:endParaRPr sz="1800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0" y="3209925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Map用于Lane-aware邻车分配，未独立进入83维输入</a:t>
            </a:r>
            <a:endParaRPr sz="127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0" y="348615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行为表示用于离线版本评价，不等同于在线决策输入</a:t>
            </a:r>
            <a:endParaRPr sz="127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0" y="3933825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42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交通参与者</a:t>
            </a:r>
            <a:endParaRPr sz="142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91600" y="3933825"/>
            <a:ext cx="2905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42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地图与轨迹</a:t>
            </a:r>
            <a:endParaRPr sz="142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115050" y="4362450"/>
            <a:ext cx="266700" cy="114300"/>
          </a:xfrm>
          <a:prstGeom prst="rect">
            <a:avLst/>
          </a:prstGeom>
          <a:solidFill>
            <a:srgbClr val="184F83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477000" y="4295775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目标车 / Waymo SDC</a:t>
            </a:r>
            <a:endParaRPr sz="127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15050" y="4657725"/>
            <a:ext cx="266700" cy="114300"/>
          </a:xfrm>
          <a:prstGeom prst="rect">
            <a:avLst/>
          </a:prstGeom>
          <a:solidFill>
            <a:srgbClr val="849CAE"/>
          </a:solidFill>
          <a:ln w="0"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477000" y="4591050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其他车辆</a:t>
            </a:r>
            <a:endParaRPr sz="127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115050" y="4953000"/>
            <a:ext cx="266700" cy="114300"/>
          </a:xfrm>
          <a:prstGeom prst="rect">
            <a:avLst/>
          </a:prstGeom>
          <a:solidFill>
            <a:srgbClr val="C47B37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477000" y="4886325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行人</a:t>
            </a:r>
            <a:endParaRPr sz="127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115050" y="5248275"/>
            <a:ext cx="266700" cy="114300"/>
          </a:xfrm>
          <a:prstGeom prst="rect">
            <a:avLst/>
          </a:prstGeom>
          <a:solidFill>
            <a:srgbClr val="8978A2"/>
          </a:solidFill>
          <a:ln w="0">
            <a:noFill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477000" y="5181600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骑行者（本例为0）</a:t>
            </a:r>
            <a:endParaRPr sz="127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115050" y="5543550"/>
            <a:ext cx="266700" cy="114300"/>
          </a:xfrm>
          <a:prstGeom prst="rect">
            <a:avLst/>
          </a:prstGeom>
          <a:solidFill>
            <a:srgbClr val="8D9D9D"/>
          </a:solidFill>
          <a:ln w="19050">
            <a:solidFill>
              <a:srgbClr val="151515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477000" y="5476875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冻结语义邻车</a:t>
            </a:r>
            <a:endParaRPr sz="127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001125" y="4400550"/>
            <a:ext cx="276225" cy="19050"/>
          </a:xfrm>
          <a:prstGeom prst="rect">
            <a:avLst/>
          </a:prstGeom>
          <a:solidFill>
            <a:srgbClr val="849CAE"/>
          </a:solidFill>
          <a:ln w="0">
            <a:noFill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391650" y="4295775"/>
            <a:ext cx="2524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历史轨迹（约3秒）</a:t>
            </a:r>
            <a:endParaRPr sz="127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001125" y="4695825"/>
            <a:ext cx="276225" cy="19050"/>
          </a:xfrm>
          <a:prstGeom prst="rect">
            <a:avLst/>
          </a:prstGeom>
          <a:solidFill>
            <a:srgbClr val="555E63"/>
          </a:solidFill>
          <a:ln w="0">
            <a:noFill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391650" y="4591050"/>
            <a:ext cx="2524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道路 / 可行驶区边界</a:t>
            </a:r>
            <a:endParaRPr sz="127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001125" y="4991100"/>
            <a:ext cx="66675" cy="14288"/>
          </a:xfrm>
          <a:prstGeom prst="rect">
            <a:avLst/>
          </a:prstGeom>
          <a:solidFill>
            <a:srgbClr val="A9BECA"/>
          </a:solidFill>
          <a:ln w="0">
            <a:noFill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105900" y="4991100"/>
            <a:ext cx="66675" cy="14288"/>
          </a:xfrm>
          <a:prstGeom prst="rect">
            <a:avLst/>
          </a:prstGeom>
          <a:solidFill>
            <a:srgbClr val="A9BECA"/>
          </a:solidFill>
          <a:ln w="0">
            <a:noFill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210675" y="4991100"/>
            <a:ext cx="66675" cy="14288"/>
          </a:xfrm>
          <a:prstGeom prst="rect">
            <a:avLst/>
          </a:prstGeom>
          <a:solidFill>
            <a:srgbClr val="A9BECA"/>
          </a:solidFill>
          <a:ln w="0">
            <a:noFill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391650" y="4886325"/>
            <a:ext cx="2524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车道中心线</a:t>
            </a:r>
            <a:endParaRPr sz="127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001125" y="5248275"/>
            <a:ext cx="276225" cy="123825"/>
          </a:xfrm>
          <a:prstGeom prst="rect">
            <a:avLst/>
          </a:prstGeom>
          <a:solidFill>
            <a:srgbClr val="E7DCC0"/>
          </a:solidFill>
          <a:ln w="0">
            <a:noFill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391650" y="5181600"/>
            <a:ext cx="2524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人行横道</a:t>
            </a:r>
            <a:endParaRPr sz="127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001125" y="5476875"/>
            <a:ext cx="3048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 b="1">
                <a:solidFill>
                  <a:srgbClr val="849CA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849CA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875" b="1">
              <a:solidFill>
                <a:srgbClr val="849CA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391650" y="5476875"/>
            <a:ext cx="2524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箭头：车身朝向</a:t>
            </a:r>
            <a:endParaRPr sz="127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096000" y="5867400"/>
            <a:ext cx="581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16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黑框内配色区分语义槽位；标注引线仅指向对象</a:t>
            </a:r>
            <a:endParaRPr sz="1165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096000" y="6134100"/>
            <a:ext cx="581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16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历史线：显示帧前约3秒的真实轨迹，非规划预测</a:t>
            </a:r>
            <a:endParaRPr sz="1165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096000" y="6400800"/>
            <a:ext cx="581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16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深灰边界不代表建筑物轮廓；车辆箭头不表示速度</a:t>
            </a:r>
            <a:endParaRPr sz="1165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333375" y="6543675"/>
            <a:ext cx="5543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05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当前五邻车仅选车辆，行人/骑行者用于还原交通环境</a:t>
            </a:r>
            <a:endParaRPr sz="1050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2191365" cy="742950"/>
          </a:xfrm>
          <a:prstGeom prst="rect">
            <a:avLst/>
          </a:prstGeom>
          <a:solidFill>
            <a:srgbClr val="245A91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295275" y="57150"/>
            <a:ext cx="11525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>
                <a:sym typeface="+mn-ea"/>
              </a:rPr>
              <a:t>1</a:t>
            </a:r>
            <a:r>
              <a:rPr lang="en-US">
                <a:sym typeface="+mn-ea"/>
              </a:rPr>
              <a:t>1</a:t>
            </a:r>
            <a:r>
              <a:rPr>
                <a:sym typeface="+mn-ea"/>
              </a:rPr>
              <a:t>.1  </a:t>
            </a:r>
            <a:r>
              <a:rPr lang="zh-CN">
                <a:sym typeface="+mn-ea"/>
              </a:rPr>
              <a:t>已完成的部分研究成果</a:t>
            </a:r>
            <a:r>
              <a:rPr>
                <a:sym typeface="+mn-ea"/>
              </a:rPr>
              <a:t>：</a:t>
            </a:r>
            <a:r>
              <a:rPr>
                <a:sym typeface="+mn-ea"/>
              </a:rPr>
              <a:t> </a:t>
            </a:r>
            <a:r>
              <a:rPr lang="zh-CN">
                <a:sym typeface="+mn-ea"/>
              </a:rPr>
              <a:t>数据</a:t>
            </a:r>
            <a:r>
              <a:rPr lang="en-US" altLang="zh-CN">
                <a:sym typeface="+mn-ea"/>
              </a:rPr>
              <a:t> - </a:t>
            </a:r>
            <a:r>
              <a: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Waymo轨迹子集规模与Scenario级划分</a:t>
            </a:r>
            <a:endParaRPr sz="17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295275" y="428625"/>
            <a:ext cx="10953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050" b="0">
                <a:solidFill>
                  <a:srgbClr val="DD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DD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整体规模：本文实际使用的官方training子集及研究划分</a:t>
            </a:r>
            <a:endParaRPr sz="1050" b="0">
              <a:solidFill>
                <a:srgbClr val="DDECF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33375" y="923925"/>
            <a:ext cx="1152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575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本文下载并使用的Waymo官方training子集：51个TFRecord / 24,872个原始Scenario</a:t>
            </a:r>
            <a:endParaRPr sz="1575" b="1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33375" y="1362075"/>
            <a:ext cx="1152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72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第一代正式保留：24,426个Scenario / 164,871个轨迹窗口</a:t>
            </a:r>
            <a:endParaRPr sz="172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1956913"/>
            <a:ext cx="11620500" cy="3649025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333375" y="5772150"/>
            <a:ext cx="11525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Train / Val / Test按Scenario互斥划分</a:t>
            </a:r>
            <a:endParaRPr sz="187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0" y="0"/>
            <a:ext cx="12191365" cy="742950"/>
          </a:xfrm>
          <a:prstGeom prst="rect">
            <a:avLst/>
          </a:prstGeom>
          <a:solidFill>
            <a:srgbClr val="245A91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295275" y="57150"/>
            <a:ext cx="11525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>
                <a:sym typeface="+mn-ea"/>
              </a:rPr>
              <a:t>1</a:t>
            </a:r>
            <a:r>
              <a:rPr lang="en-US">
                <a:sym typeface="+mn-ea"/>
              </a:rPr>
              <a:t>1</a:t>
            </a:r>
            <a:r>
              <a:rPr>
                <a:sym typeface="+mn-ea"/>
              </a:rPr>
              <a:t>.1  </a:t>
            </a:r>
            <a:r>
              <a:rPr lang="zh-CN">
                <a:sym typeface="+mn-ea"/>
              </a:rPr>
              <a:t>已完成的部分研究成果</a:t>
            </a:r>
            <a:r>
              <a:rPr>
                <a:sym typeface="+mn-ea"/>
              </a:rPr>
              <a:t>： </a:t>
            </a:r>
            <a:r>
              <a:rPr lang="zh-CN">
                <a:sym typeface="+mn-ea"/>
              </a:rPr>
              <a:t>数据</a:t>
            </a:r>
            <a:r>
              <a:rPr lang="en-US" altLang="zh-CN">
                <a:sym typeface="+mn-ea"/>
              </a:rPr>
              <a:t> - </a:t>
            </a:r>
            <a:r>
              <a: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Waymo数据速度与五邻车覆盖</a:t>
            </a:r>
            <a:endParaRPr sz="17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295275" y="428625"/>
            <a:ext cx="10953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050" b="0">
                <a:solidFill>
                  <a:srgbClr val="DD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DD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数据覆盖：训练窗口速度分布与正式数据的五类语义邻车</a:t>
            </a:r>
            <a:endParaRPr sz="1050" b="0">
              <a:solidFill>
                <a:srgbClr val="DDECF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430000" y="43815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9.3</a:t>
            </a:r>
            <a:endParaRPr sz="9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33375" y="914400"/>
            <a:ext cx="5476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72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窗口平均速度分布</a:t>
            </a:r>
            <a:endParaRPr sz="172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57925" y="914400"/>
            <a:ext cx="56102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72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五个语义邻车槽位覆盖</a:t>
            </a:r>
            <a:endParaRPr sz="172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33375" y="1257300"/>
            <a:ext cx="5476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训练集：131,998个80帧窗口</a:t>
            </a:r>
            <a:endParaRPr sz="1275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57925" y="1257300"/>
            <a:ext cx="56102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全部正式数据：Train + Val + Test</a:t>
            </a:r>
            <a:endParaRPr sz="1275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06117"/>
            <a:ext cx="5686425" cy="178841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877" y="1562100"/>
            <a:ext cx="5642795" cy="2200275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333375" y="3781425"/>
            <a:ext cx="5543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低速  [0, 5) m/s     52,098窗口（39.47%）</a:t>
            </a:r>
            <a:endParaRPr sz="13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33375" y="4133850"/>
            <a:ext cx="5543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中速  [5, 15) m/s   66,676窗口（50.51%）</a:t>
            </a:r>
            <a:endParaRPr sz="13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3375" y="4486275"/>
            <a:ext cx="5543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高速  ≥15 m/s       13,224窗口（10.02%）</a:t>
            </a:r>
            <a:endParaRPr sz="13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57925" y="3781425"/>
            <a:ext cx="55530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窗口覆盖率 / 帧有效率</a:t>
            </a:r>
            <a:endParaRPr sz="127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57925" y="4105275"/>
            <a:ext cx="5429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前车  26.71% / 26.41%</a:t>
            </a:r>
            <a:endParaRPr sz="13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57925" y="4410075"/>
            <a:ext cx="5619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左前  14.13% / 13.97%     左后  15.14% / 15.01%</a:t>
            </a:r>
            <a:endParaRPr sz="127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57925" y="4714875"/>
            <a:ext cx="5619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右前  15.80% / 15.63%     右后  15.90% / 15.77%</a:t>
            </a:r>
            <a:endParaRPr sz="127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33375" y="5153025"/>
            <a:ext cx="55435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按80帧窗口的自车平均速度分箱</a:t>
            </a:r>
            <a:endParaRPr sz="13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三类互斥，覆盖全部训练窗口（合计100%）</a:t>
            </a:r>
            <a:endParaRPr sz="13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257925" y="5153025"/>
            <a:ext cx="56197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窗口覆盖率：80帧窗口内至少1帧存在该邻车</a:t>
            </a:r>
            <a:endParaRPr sz="127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帧有效率：该槽位有效帧数 / 全部窗口帧数</a:t>
            </a:r>
            <a:endParaRPr sz="127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0" y="0"/>
            <a:ext cx="12191365" cy="742950"/>
          </a:xfrm>
          <a:prstGeom prst="rect">
            <a:avLst/>
          </a:prstGeom>
          <a:solidFill>
            <a:srgbClr val="245A91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295275" y="47625"/>
            <a:ext cx="11620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>
                <a:sym typeface="+mn-ea"/>
              </a:rPr>
              <a:t>1</a:t>
            </a:r>
            <a:r>
              <a:rPr lang="en-US">
                <a:sym typeface="+mn-ea"/>
              </a:rPr>
              <a:t>1</a:t>
            </a:r>
            <a:r>
              <a:rPr>
                <a:sym typeface="+mn-ea"/>
              </a:rPr>
              <a:t>.1  </a:t>
            </a:r>
            <a:r>
              <a:rPr lang="zh-CN">
                <a:sym typeface="+mn-ea"/>
              </a:rPr>
              <a:t>已完成的部分研究成果</a:t>
            </a:r>
            <a:r>
              <a:rPr>
                <a:sym typeface="+mn-ea"/>
              </a:rPr>
              <a:t>：</a:t>
            </a:r>
            <a:r>
              <a:rPr sz="18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实验A：64维行为表示对物理行为语义的保持能力</a:t>
            </a:r>
            <a:endParaRPr sz="18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23850" y="895350"/>
            <a:ext cx="4476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物理行为越不同，表示是否也越不相似？</a:t>
            </a:r>
            <a:endParaRPr sz="1500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23850" y="1285875"/>
            <a:ext cx="45529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4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4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研究测试：16,392窗 / 2,429场景</a:t>
            </a:r>
            <a:endParaRPr sz="134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34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4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模型已冻结，测试集不参与训练</a:t>
            </a:r>
            <a:endParaRPr sz="134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323850" y="2000250"/>
            <a:ext cx="4476750" cy="609600"/>
          </a:xfrm>
          <a:prstGeom prst="roundRect">
            <a:avLst>
              <a:gd name="adj" fmla="val 12500"/>
            </a:avLst>
          </a:prstGeom>
          <a:solidFill>
            <a:srgbClr val="EEF4F8"/>
          </a:solidFill>
          <a:ln w="8573">
            <a:solidFill>
              <a:srgbClr val="C6D7E5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38150" y="2038350"/>
            <a:ext cx="4248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抽取50,000个跨场景有序轨迹对</a:t>
            </a:r>
            <a:endParaRPr sz="137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3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3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r>
              <a:rPr sz="13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种表示共用同一组</a:t>
            </a:r>
            <a:endParaRPr sz="137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下箭头 7"/>
          <p:cNvSpPr>
            <a:spLocks noGrp="1"/>
          </p:cNvSpPr>
          <p:nvPr/>
        </p:nvSpPr>
        <p:spPr>
          <a:xfrm>
            <a:off x="2476500" y="2686050"/>
            <a:ext cx="161925" cy="142875"/>
          </a:xfrm>
          <a:prstGeom prst="downArrow">
            <a:avLst/>
          </a:prstGeom>
          <a:solidFill>
            <a:srgbClr val="7C97AC"/>
          </a:solidFill>
          <a:ln w="0">
            <a:noFill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323850" y="2924175"/>
            <a:ext cx="4476750" cy="609600"/>
          </a:xfrm>
          <a:prstGeom prst="roundRect">
            <a:avLst>
              <a:gd name="adj" fmla="val 12500"/>
            </a:avLst>
          </a:prstGeom>
          <a:solidFill>
            <a:srgbClr val="EEF4F8"/>
          </a:solidFill>
          <a:ln w="8573">
            <a:solidFill>
              <a:srgbClr val="C6D7E5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38150" y="2962275"/>
            <a:ext cx="4248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学习式64维、人工33维</a:t>
            </a:r>
            <a:endParaRPr sz="137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3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分别计算同一轨迹对的欧氏距离 d</a:t>
            </a:r>
            <a:endParaRPr sz="137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下箭头 10"/>
          <p:cNvSpPr>
            <a:spLocks noGrp="1"/>
          </p:cNvSpPr>
          <p:nvPr/>
        </p:nvSpPr>
        <p:spPr>
          <a:xfrm>
            <a:off x="2476500" y="3609975"/>
            <a:ext cx="161925" cy="142875"/>
          </a:xfrm>
          <a:prstGeom prst="downArrow">
            <a:avLst/>
          </a:prstGeom>
          <a:solidFill>
            <a:srgbClr val="7C97AC"/>
          </a:solidFill>
          <a:ln w="0">
            <a:noFill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323850" y="3848100"/>
            <a:ext cx="4476750" cy="609600"/>
          </a:xfrm>
          <a:prstGeom prst="roundRect">
            <a:avLst>
              <a:gd name="adj" fmla="val 12500"/>
            </a:avLst>
          </a:prstGeom>
          <a:solidFill>
            <a:srgbClr val="EEF4F8"/>
          </a:solidFill>
          <a:ln w="8573">
            <a:solidFill>
              <a:srgbClr val="C6D7E5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38150" y="3886200"/>
            <a:ext cx="4248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逐项计算30个指标的绝对差 |Δf|</a:t>
            </a:r>
            <a:endParaRPr sz="137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3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指标读取训练统计量标准化后的值</a:t>
            </a:r>
            <a:endParaRPr sz="137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下箭头 13"/>
          <p:cNvSpPr>
            <a:spLocks noGrp="1"/>
          </p:cNvSpPr>
          <p:nvPr/>
        </p:nvSpPr>
        <p:spPr>
          <a:xfrm>
            <a:off x="2476500" y="4533900"/>
            <a:ext cx="161925" cy="142875"/>
          </a:xfrm>
          <a:prstGeom prst="downArrow">
            <a:avLst/>
          </a:prstGeom>
          <a:solidFill>
            <a:srgbClr val="7C97AC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23850" y="4743450"/>
            <a:ext cx="4552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6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6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ρ = Spearman（表示距离，单指标绝对差）</a:t>
            </a:r>
            <a:endParaRPr sz="1360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23850" y="5219700"/>
            <a:ext cx="45529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4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类别Δρ：先平均各指标ρ，再选较强人工基线</a:t>
            </a:r>
            <a:endParaRPr sz="1240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24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逐项Win：64维ρ超过该指标最佳人工基线</a:t>
            </a:r>
            <a:endParaRPr sz="1240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3518" y="904875"/>
            <a:ext cx="6339840" cy="4953000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238125" y="6019800"/>
            <a:ext cx="11715750" cy="695325"/>
          </a:xfrm>
          <a:prstGeom prst="rect">
            <a:avLst/>
          </a:prstGeom>
          <a:solidFill>
            <a:srgbClr val="EEF6FB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81000" y="6086475"/>
            <a:ext cx="11430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30项中16项点估计优于最佳人工基线，优势集中于跟驰和横向运动动态</a:t>
            </a:r>
            <a:endParaRPr sz="137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488940" y="5200650"/>
            <a:ext cx="5375275" cy="456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" name="top-title-bar"/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215B94"/>
          </a:solidFill>
          <a:ln w="0">
            <a:solidFill>
              <a:srgbClr val="215B94"/>
            </a:solidFill>
            <a:prstDash val="solid"/>
          </a:ln>
        </p:spPr>
      </p:sp>
      <p:sp>
        <p:nvSpPr>
          <p:cNvPr id="2" name="slide-title"/>
          <p:cNvSpPr>
            <a:spLocks noGrp="1"/>
          </p:cNvSpPr>
          <p:nvPr/>
        </p:nvSpPr>
        <p:spPr>
          <a:xfrm>
            <a:off x="304800" y="47625"/>
            <a:ext cx="11582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>
                <a:sym typeface="+mn-ea"/>
              </a:rPr>
              <a:t>1</a:t>
            </a:r>
            <a:r>
              <a:rPr lang="en-US">
                <a:sym typeface="+mn-ea"/>
              </a:rPr>
              <a:t>1</a:t>
            </a:r>
            <a:r>
              <a:rPr>
                <a:sym typeface="+mn-ea"/>
              </a:rPr>
              <a:t>.</a:t>
            </a:r>
            <a:r>
              <a:rPr lang="en-US">
                <a:sym typeface="+mn-ea"/>
              </a:rPr>
              <a:t>2</a:t>
            </a:r>
            <a:r>
              <a:rPr>
                <a:sym typeface="+mn-ea"/>
              </a:rPr>
              <a:t>  </a:t>
            </a:r>
            <a:r>
              <a:rPr lang="zh-CN">
                <a:sym typeface="+mn-ea"/>
              </a:rPr>
              <a:t>已完成的部分研究成果</a:t>
            </a:r>
            <a:r>
              <a:rPr>
                <a:sym typeface="+mn-ea"/>
              </a:rPr>
              <a:t>：</a:t>
            </a:r>
            <a:r>
              <a:rPr lang="zh-CN"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基于</a:t>
            </a:r>
            <a:r>
              <a:rPr lang="en-US" altLang="zh-CN"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nuplan</a:t>
            </a:r>
            <a:r>
              <a:rPr lang="zh-CN" altLang="en-US"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仿真环境</a:t>
            </a:r>
            <a:r>
              <a:rPr lang="en-US" altLang="zh-CN"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纯纵向闭环策略差异可被BDD检出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304800" y="409575"/>
            <a:ext cx="1000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15" b="0">
                <a:solidFill>
                  <a:srgbClr val="DC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DC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冻结64维</a:t>
            </a:r>
            <a:r>
              <a:rPr lang="zh-CN" sz="1015" b="0">
                <a:solidFill>
                  <a:srgbClr val="DC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</a:t>
            </a:r>
            <a:r>
              <a:rPr sz="1015" b="0">
                <a:solidFill>
                  <a:srgbClr val="DC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从Waymo训练域直接用于nuPlan同场景闭环验证</a:t>
            </a:r>
            <a:endParaRPr sz="1015" b="0">
              <a:solidFill>
                <a:srgbClr val="DCECF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285750" y="971550"/>
            <a:ext cx="2333625" cy="495300"/>
          </a:xfrm>
          <a:prstGeom prst="rect">
            <a:avLst/>
          </a:prstGeom>
          <a:solidFill>
            <a:srgbClr val="EDF6FB"/>
          </a:solidFill>
          <a:ln w="9525">
            <a:solidFill>
              <a:srgbClr val="215B94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0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Waymo训练的冻结64维</a:t>
            </a:r>
            <a:r>
              <a:rPr lang="zh-CN" sz="10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</a:t>
            </a:r>
            <a:endParaRPr lang="zh-CN" sz="105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右箭头 4"/>
          <p:cNvSpPr>
            <a:spLocks noGrp="1"/>
          </p:cNvSpPr>
          <p:nvPr/>
        </p:nvSpPr>
        <p:spPr>
          <a:xfrm>
            <a:off x="2790825" y="1133475"/>
            <a:ext cx="247650" cy="171450"/>
          </a:xfrm>
          <a:prstGeom prst="rightArrow">
            <a:avLst/>
          </a:prstGeom>
          <a:solidFill>
            <a:srgbClr val="8BA0B2"/>
          </a:solidFill>
          <a:ln w="0">
            <a:solidFill>
              <a:srgbClr val="8BA0B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267075" y="971550"/>
            <a:ext cx="2333625" cy="495300"/>
          </a:xfrm>
          <a:prstGeom prst="rect">
            <a:avLst/>
          </a:prstGeom>
          <a:solidFill>
            <a:srgbClr val="F4FBF8"/>
          </a:solidFill>
          <a:ln w="9525">
            <a:solidFill>
              <a:srgbClr val="347F70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05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nuPlan同场景A/B闭环验证</a:t>
            </a:r>
            <a:endParaRPr sz="1050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右箭头 6"/>
          <p:cNvSpPr>
            <a:spLocks noGrp="1"/>
          </p:cNvSpPr>
          <p:nvPr/>
        </p:nvSpPr>
        <p:spPr>
          <a:xfrm>
            <a:off x="5772150" y="1133475"/>
            <a:ext cx="247650" cy="171450"/>
          </a:xfrm>
          <a:prstGeom prst="rightArrow">
            <a:avLst/>
          </a:prstGeom>
          <a:solidFill>
            <a:srgbClr val="8BA0B2"/>
          </a:solidFill>
          <a:ln w="0">
            <a:solidFill>
              <a:srgbClr val="8BA0B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248400" y="971550"/>
            <a:ext cx="2333625" cy="495300"/>
          </a:xfrm>
          <a:prstGeom prst="rect">
            <a:avLst/>
          </a:prstGeom>
          <a:solidFill>
            <a:srgbClr val="FFF9EF"/>
          </a:solidFill>
          <a:ln w="9525">
            <a:solidFill>
              <a:srgbClr val="BB7E2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05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物理行为变化确认</a:t>
            </a:r>
            <a:endParaRPr sz="105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8753475" y="1133475"/>
            <a:ext cx="247650" cy="171450"/>
          </a:xfrm>
          <a:prstGeom prst="rightArrow">
            <a:avLst/>
          </a:prstGeom>
          <a:solidFill>
            <a:srgbClr val="8BA0B2"/>
          </a:solidFill>
          <a:ln w="0">
            <a:solidFill>
              <a:srgbClr val="8BA0B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229725" y="971550"/>
            <a:ext cx="2333625" cy="495300"/>
          </a:xfrm>
          <a:prstGeom prst="rect">
            <a:avLst/>
          </a:prstGeom>
          <a:solidFill>
            <a:srgbClr val="F8F5FC"/>
          </a:solidFill>
          <a:ln w="9525">
            <a:solidFill>
              <a:srgbClr val="7357A4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05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配对BDD检验</a:t>
            </a:r>
            <a:endParaRPr sz="1050" b="1">
              <a:solidFill>
                <a:srgbClr val="7357A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85750" y="169545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13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实验规模</a:t>
            </a:r>
            <a:endParaRPr sz="135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285750" y="2076450"/>
            <a:ext cx="1619250" cy="904875"/>
          </a:xfrm>
          <a:prstGeom prst="roundRect">
            <a:avLst>
              <a:gd name="adj" fmla="val 10526"/>
            </a:avLst>
          </a:prstGeom>
          <a:solidFill>
            <a:srgbClr val="EDF6FB"/>
          </a:solidFill>
          <a:ln w="9525">
            <a:solidFill>
              <a:srgbClr val="215B9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42900" y="2133600"/>
            <a:ext cx="1504950" cy="4976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21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183对</a:t>
            </a:r>
            <a:endParaRPr sz="21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2900" y="2601278"/>
            <a:ext cx="1504950" cy="307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rmAutofit/>
          </a:bodyPr>
          <a:lstStyle/>
          <a:p>
            <a:pPr algn="ctr">
              <a:defRPr sz="9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同场景配对</a:t>
            </a:r>
            <a:endParaRPr sz="94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2047875" y="2076450"/>
            <a:ext cx="1619250" cy="904875"/>
          </a:xfrm>
          <a:prstGeom prst="roundRect">
            <a:avLst>
              <a:gd name="adj" fmla="val 10526"/>
            </a:avLst>
          </a:prstGeom>
          <a:solidFill>
            <a:srgbClr val="F4FBF8"/>
          </a:solidFill>
          <a:ln w="9525">
            <a:solidFill>
              <a:srgbClr val="347F7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105025" y="2133600"/>
            <a:ext cx="1504950" cy="4976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210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366条</a:t>
            </a:r>
            <a:endParaRPr sz="2100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105025" y="2601278"/>
            <a:ext cx="1504950" cy="307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t">
            <a:normAutofit/>
          </a:bodyPr>
          <a:lstStyle/>
          <a:p>
            <a:pPr algn="ctr">
              <a:defRPr sz="9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闭环仿真轨迹</a:t>
            </a:r>
            <a:endParaRPr sz="94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33375" y="3195955"/>
            <a:ext cx="3286125" cy="457200"/>
          </a:xfrm>
          <a:prstGeom prst="rect">
            <a:avLst/>
          </a:prstGeom>
          <a:solidFill>
            <a:srgbClr val="F7FAFC"/>
          </a:solidFill>
          <a:ln w="9525">
            <a:solidFill>
              <a:srgbClr val="C9DCE9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05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仅改变规划</a:t>
            </a:r>
            <a:r>
              <a:rPr lang="zh-CN" sz="105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软件</a:t>
            </a:r>
            <a:r>
              <a:rPr sz="105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纵向参数，横向参数保持一致</a:t>
            </a:r>
            <a:endParaRPr sz="1050" b="1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33375" y="3767455"/>
            <a:ext cx="3286125" cy="457200"/>
          </a:xfrm>
          <a:prstGeom prst="rect">
            <a:avLst/>
          </a:prstGeom>
          <a:solidFill>
            <a:srgbClr val="F4FBF8"/>
          </a:solidFill>
          <a:ln w="9525">
            <a:solidFill>
              <a:srgbClr val="8EC7BB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015" b="0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nuPlan</a:t>
            </a:r>
            <a:r>
              <a:rPr lang="zh-CN" sz="1015" b="0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输出的数据</a:t>
            </a:r>
            <a:r>
              <a:rPr sz="1015" b="0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未参与该64维模型的训练或调参</a:t>
            </a:r>
            <a:endParaRPr sz="1015" b="0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000500" y="1676400"/>
            <a:ext cx="4095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215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15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物理行为变化确认：先证明车辆真的发生了目标纵向变化</a:t>
            </a:r>
            <a:endParaRPr sz="1215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000500" y="1943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79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所有Δ均定义为 </a:t>
            </a:r>
            <a:r>
              <a:rPr lang="zh-CN" sz="79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软件策略</a:t>
            </a:r>
            <a:r>
              <a:rPr lang="en-US" altLang="zh-CN" sz="79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 </a:t>
            </a:r>
            <a:r>
              <a:rPr sz="79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− </a:t>
            </a:r>
            <a:r>
              <a:rPr lang="zh-CN" sz="79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软件策略</a:t>
            </a:r>
            <a:r>
              <a:rPr lang="en-US" altLang="zh-CN" sz="79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</a:t>
            </a:r>
            <a:endParaRPr lang="en-US" altLang="zh-CN" sz="790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4000500" y="2133600"/>
            <a:ext cx="4095750" cy="1295400"/>
          </a:xfrm>
          <a:prstGeom prst="roundRect">
            <a:avLst>
              <a:gd name="adj" fmla="val 8824"/>
            </a:avLst>
          </a:prstGeom>
          <a:solidFill>
            <a:srgbClr val="FFF9EF"/>
          </a:solidFill>
          <a:ln w="11430">
            <a:solidFill>
              <a:srgbClr val="E3BE83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171950" y="2219325"/>
            <a:ext cx="2514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0000"/>
          </a:bodyPr>
          <a:lstStyle/>
          <a:p>
            <a:pPr algn="l">
              <a:defRPr sz="114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4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平均速度差（</a:t>
            </a:r>
            <a:r>
              <a:rPr lang="en-US" sz="114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swB</a:t>
            </a:r>
            <a:r>
              <a:rPr sz="114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− </a:t>
            </a:r>
            <a:r>
              <a:rPr lang="en-US" sz="114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swA</a:t>
            </a:r>
            <a:r>
              <a:rPr sz="114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</a:t>
            </a:r>
            <a:endParaRPr sz="114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171950" y="247650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0000"/>
          </a:bodyPr>
          <a:lstStyle/>
          <a:p>
            <a:pPr algn="l">
              <a:defRPr sz="19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+0.9147 m/s</a:t>
            </a:r>
            <a:endParaRPr sz="195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171950" y="2847975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defRPr sz="8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8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swB</a:t>
            </a:r>
            <a:r>
              <a:rPr sz="8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版本平均速度更高</a:t>
            </a:r>
            <a:endParaRPr sz="84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00850" y="2524125"/>
            <a:ext cx="1123950" cy="419100"/>
          </a:xfrm>
          <a:prstGeom prst="rect">
            <a:avLst/>
          </a:prstGeom>
          <a:solidFill>
            <a:srgbClr val="347F70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0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变化已确认</a:t>
            </a:r>
            <a:endParaRPr sz="10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4000500" y="3581400"/>
            <a:ext cx="4095750" cy="1295400"/>
          </a:xfrm>
          <a:prstGeom prst="roundRect">
            <a:avLst>
              <a:gd name="adj" fmla="val 8824"/>
            </a:avLst>
          </a:prstGeom>
          <a:solidFill>
            <a:srgbClr val="FFF9EF"/>
          </a:solidFill>
          <a:ln w="11430">
            <a:solidFill>
              <a:srgbClr val="E3BE83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171950" y="3667125"/>
            <a:ext cx="2667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105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RMS加速度差（</a:t>
            </a:r>
            <a:r>
              <a:rPr lang="en-US" sz="105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swB</a:t>
            </a:r>
            <a:r>
              <a:rPr sz="105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− </a:t>
            </a:r>
            <a:r>
              <a:rPr lang="en-US" sz="105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swA</a:t>
            </a:r>
            <a:r>
              <a:rPr sz="105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</a:t>
            </a:r>
            <a:endParaRPr sz="105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171950" y="39243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0000"/>
          </a:bodyPr>
          <a:lstStyle/>
          <a:p>
            <a:pPr algn="l">
              <a:defRPr sz="19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+0.1816 m/s²</a:t>
            </a:r>
            <a:endParaRPr sz="195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171950" y="4295775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defRPr sz="8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反映整体加减速动作强度增加</a:t>
            </a:r>
            <a:endParaRPr sz="84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800850" y="3971925"/>
            <a:ext cx="1123950" cy="419100"/>
          </a:xfrm>
          <a:prstGeom prst="rect">
            <a:avLst/>
          </a:prstGeom>
          <a:solidFill>
            <a:srgbClr val="347F70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0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变化已确认</a:t>
            </a:r>
            <a:endParaRPr sz="10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477250" y="167640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35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配对BDD：检测行为分布漂移</a:t>
            </a:r>
            <a:endParaRPr sz="1350" b="1">
              <a:solidFill>
                <a:srgbClr val="7357A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8477250" y="2076450"/>
            <a:ext cx="3333750" cy="2971800"/>
          </a:xfrm>
          <a:prstGeom prst="roundRect">
            <a:avLst>
              <a:gd name="adj" fmla="val 3846"/>
            </a:avLst>
          </a:prstGeom>
          <a:solidFill>
            <a:srgbClr val="F8F5FC"/>
          </a:solidFill>
          <a:ln w="11430">
            <a:solidFill>
              <a:srgbClr val="B7A5D6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715375" y="22288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275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整体检验</a:t>
            </a:r>
            <a:endParaRPr sz="1275" b="1">
              <a:solidFill>
                <a:srgbClr val="7357A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715375" y="2609850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0000"/>
          </a:bodyPr>
          <a:lstStyle/>
          <a:p>
            <a:pPr algn="ctr">
              <a:defRPr sz="105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差异统计量 MMD²</a:t>
            </a:r>
            <a:endParaRPr sz="1050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715375" y="290576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lnSpcReduction="20000"/>
          </a:bodyPr>
          <a:lstStyle/>
          <a:p>
            <a:pPr algn="ctr">
              <a:defRPr sz="255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0.00500</a:t>
            </a:r>
            <a:r>
              <a:rPr lang="en-US" sz="255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lang="zh-CN" altLang="en-US" sz="255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大于</a:t>
            </a:r>
            <a:endParaRPr lang="zh-CN" altLang="en-US" sz="2550" b="1">
              <a:solidFill>
                <a:srgbClr val="174A7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715375" y="33909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88717"/>
          </a:bodyPr>
          <a:lstStyle/>
          <a:p>
            <a:pPr algn="ctr">
              <a:defRPr sz="1015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配对随机化检验</a:t>
            </a:r>
            <a:endParaRPr sz="1015" b="1">
              <a:solidFill>
                <a:srgbClr val="7357A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667750" y="362902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9525" rIns="28575" bIns="9525" anchor="ctr">
            <a:normAutofit/>
          </a:bodyPr>
          <a:lstStyle/>
          <a:p>
            <a:pPr algn="ctr">
              <a:defRPr sz="72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2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在同场景配对内随机交换</a:t>
            </a:r>
            <a:r>
              <a:rPr lang="en-US" sz="72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swA/swB</a:t>
            </a:r>
            <a:r>
              <a:rPr sz="72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标签</a:t>
            </a:r>
            <a:endParaRPr sz="720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2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2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构造无系统版本效应时的背景分布</a:t>
            </a:r>
            <a:endParaRPr sz="720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953500" y="4010025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2100" b="1">
                <a:solidFill>
                  <a:srgbClr val="C64A4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 &lt; 1×10⁻⁴</a:t>
            </a:r>
            <a:endParaRPr sz="2100" b="1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715375" y="47625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109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行为分布漂移已检出</a:t>
            </a:r>
            <a:endParaRPr sz="1800" b="1">
              <a:solidFill>
                <a:srgbClr val="7357A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bottom-conclusion"/>
          <p:cNvSpPr>
            <a:spLocks noGrp="1"/>
          </p:cNvSpPr>
          <p:nvPr/>
        </p:nvSpPr>
        <p:spPr>
          <a:xfrm>
            <a:off x="152400" y="6191250"/>
            <a:ext cx="11887200" cy="457200"/>
          </a:xfrm>
          <a:prstGeom prst="rect">
            <a:avLst/>
          </a:prstGeom>
          <a:solidFill>
            <a:srgbClr val="EDF6FB"/>
          </a:solidFill>
          <a:ln w="0">
            <a:noFill/>
            <a:prstDash val="solid"/>
          </a:ln>
        </p:spPr>
        <p:txBody>
          <a:bodyPr wrap="square" lIns="114300" tIns="47625" rIns="114300" bIns="47625" anchor="ctr"/>
          <a:lstStyle/>
          <a:p>
            <a:pPr algn="ctr">
              <a:defRPr sz="96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同场景配对实验中，</a:t>
            </a:r>
            <a:r>
              <a:rPr lang="zh-CN" sz="140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修改规划策略让目标软件</a:t>
            </a:r>
            <a:r>
              <a:rPr sz="140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在平均速度和加减速强度上均产生稳定变化</a:t>
            </a:r>
            <a:r>
              <a:rPr lang="en-US" sz="140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r>
              <a:rPr lang="zh-CN" altLang="en-US" sz="140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</a:t>
            </a:r>
            <a:r>
              <a:rPr sz="140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进一步检出了版本间行为分布漂移。</a:t>
            </a:r>
            <a:endParaRPr sz="1400" b="1">
              <a:solidFill>
                <a:srgbClr val="174A7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11310620" y="4754245"/>
            <a:ext cx="309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✅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" name="top-title-bar"/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215B94"/>
          </a:solidFill>
          <a:ln w="0">
            <a:solidFill>
              <a:srgbClr val="215B94"/>
            </a:solidFill>
            <a:prstDash val="solid"/>
          </a:ln>
        </p:spPr>
      </p:sp>
      <p:sp>
        <p:nvSpPr>
          <p:cNvPr id="2" name="slide-title"/>
          <p:cNvSpPr>
            <a:spLocks noGrp="1"/>
          </p:cNvSpPr>
          <p:nvPr/>
        </p:nvSpPr>
        <p:spPr>
          <a:xfrm>
            <a:off x="304800" y="47625"/>
            <a:ext cx="11582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>
                <a:sym typeface="+mn-ea"/>
              </a:rPr>
              <a:t>1</a:t>
            </a:r>
            <a:r>
              <a:rPr lang="en-US">
                <a:sym typeface="+mn-ea"/>
              </a:rPr>
              <a:t>1</a:t>
            </a:r>
            <a:r>
              <a:rPr>
                <a:sym typeface="+mn-ea"/>
              </a:rPr>
              <a:t>.</a:t>
            </a:r>
            <a:r>
              <a:rPr lang="en-US">
                <a:sym typeface="+mn-ea"/>
              </a:rPr>
              <a:t>3</a:t>
            </a:r>
            <a:r>
              <a:rPr>
                <a:sym typeface="+mn-ea"/>
              </a:rPr>
              <a:t>  </a:t>
            </a:r>
            <a:r>
              <a:rPr lang="zh-CN">
                <a:sym typeface="+mn-ea"/>
              </a:rPr>
              <a:t>已完成的部分研究成果</a:t>
            </a:r>
            <a:r>
              <a:rPr>
                <a:sym typeface="+mn-ea"/>
              </a:rPr>
              <a:t>：</a:t>
            </a: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实验证据支持双模式评价协议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304800" y="409575"/>
            <a:ext cx="1000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15" b="0">
                <a:solidFill>
                  <a:srgbClr val="DC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DC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同场景用于策略归因；异场景需先控制场景差异，再进行版本级漂移监控</a:t>
            </a:r>
            <a:endParaRPr sz="1015" b="0">
              <a:solidFill>
                <a:srgbClr val="DCECF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panel-1"/>
          <p:cNvSpPr>
            <a:spLocks noGrp="1"/>
          </p:cNvSpPr>
          <p:nvPr/>
        </p:nvSpPr>
        <p:spPr>
          <a:xfrm>
            <a:off x="228600" y="933450"/>
            <a:ext cx="5715000" cy="5067300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11430">
            <a:solidFill>
              <a:srgbClr val="347F70"/>
            </a:solidFill>
            <a:prstDash val="solid"/>
          </a:ln>
        </p:spPr>
      </p:sp>
      <p:sp>
        <p:nvSpPr>
          <p:cNvPr id="5" name="panel-header-1"/>
          <p:cNvSpPr>
            <a:spLocks noGrp="1"/>
          </p:cNvSpPr>
          <p:nvPr/>
        </p:nvSpPr>
        <p:spPr>
          <a:xfrm>
            <a:off x="228600" y="933450"/>
            <a:ext cx="5715000" cy="457200"/>
          </a:xfrm>
          <a:prstGeom prst="roundRect">
            <a:avLst>
              <a:gd name="adj" fmla="val 25000"/>
            </a:avLst>
          </a:prstGeom>
          <a:solidFill>
            <a:srgbClr val="347F70"/>
          </a:solidFill>
          <a:ln w="0">
            <a:solidFill>
              <a:srgbClr val="347F7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42900" y="1009650"/>
            <a:ext cx="304800" cy="304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200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971550"/>
            <a:ext cx="5105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同场景：为什么必须保留配对关系？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38150" y="1485900"/>
            <a:ext cx="5295900" cy="342900"/>
          </a:xfrm>
          <a:prstGeom prst="rect">
            <a:avLst/>
          </a:prstGeom>
          <a:solidFill>
            <a:srgbClr val="F7FAFC"/>
          </a:solidFill>
          <a:ln w="9525">
            <a:solidFill>
              <a:srgbClr val="C9DCE9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945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45对同场景开发实验：数据、64维表示和MMD²完全相同，仅改变随机化检验方式</a:t>
            </a:r>
            <a:endParaRPr sz="945" b="1">
              <a:solidFill>
                <a:srgbClr val="174A7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038350" y="18478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0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MMD² = 0.01418</a:t>
            </a:r>
            <a:endParaRPr sz="105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04825" y="2152650"/>
            <a:ext cx="2266950" cy="361950"/>
          </a:xfrm>
          <a:prstGeom prst="rect">
            <a:avLst/>
          </a:prstGeom>
          <a:solidFill>
            <a:srgbClr val="F7FAFC"/>
          </a:solidFill>
          <a:ln w="9525">
            <a:solidFill>
              <a:srgbClr val="C9DCE9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050" b="1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忽略场景配对</a:t>
            </a:r>
            <a:endParaRPr sz="1050" b="1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下箭头 10"/>
          <p:cNvSpPr>
            <a:spLocks noGrp="1"/>
          </p:cNvSpPr>
          <p:nvPr/>
        </p:nvSpPr>
        <p:spPr>
          <a:xfrm>
            <a:off x="1552575" y="2533650"/>
            <a:ext cx="171450" cy="171450"/>
          </a:xfrm>
          <a:prstGeom prst="downArrow">
            <a:avLst/>
          </a:prstGeom>
          <a:solidFill>
            <a:srgbClr val="8BA0B2"/>
          </a:solidFill>
          <a:ln w="0">
            <a:solidFill>
              <a:srgbClr val="8BA0B2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04825" y="2743200"/>
            <a:ext cx="2266950" cy="428625"/>
          </a:xfrm>
          <a:prstGeom prst="rect">
            <a:avLst/>
          </a:prstGeom>
          <a:solidFill>
            <a:srgbClr val="F7FAFC"/>
          </a:solidFill>
          <a:ln w="9525">
            <a:solidFill>
              <a:srgbClr val="C9DCE9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900" b="1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整体混合后随机打乱版本标签</a:t>
            </a:r>
            <a:endParaRPr sz="900" b="1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下箭头 12"/>
          <p:cNvSpPr>
            <a:spLocks noGrp="1"/>
          </p:cNvSpPr>
          <p:nvPr/>
        </p:nvSpPr>
        <p:spPr>
          <a:xfrm>
            <a:off x="1552575" y="3190875"/>
            <a:ext cx="171450" cy="171450"/>
          </a:xfrm>
          <a:prstGeom prst="downArrow">
            <a:avLst/>
          </a:prstGeom>
          <a:solidFill>
            <a:srgbClr val="8BA0B2"/>
          </a:solidFill>
          <a:ln w="0">
            <a:solidFill>
              <a:srgbClr val="8BA0B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23900" y="3400425"/>
            <a:ext cx="18288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CE9"/>
            </a:solidFill>
            <a:prstDash val="solid"/>
          </a:ln>
        </p:spPr>
        <p:txBody>
          <a:bodyPr wrap="square" lIns="57150" tIns="38100" rIns="57150" bIns="38100" anchor="ctr">
            <a:normAutofit fontScale="90000"/>
          </a:bodyPr>
          <a:lstStyle/>
          <a:p>
            <a:pPr algn="ctr">
              <a:defRPr sz="1540" b="1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1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 = 0.7409</a:t>
            </a:r>
            <a:endParaRPr sz="1540" b="1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540" b="1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540" b="1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背景噪声大无法</a:t>
            </a:r>
            <a:r>
              <a:rPr lang="zh-CN" sz="1540" b="1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检出</a:t>
            </a:r>
            <a:endParaRPr lang="zh-CN" sz="1540" b="1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400425" y="2152650"/>
            <a:ext cx="2266950" cy="361950"/>
          </a:xfrm>
          <a:prstGeom prst="rect">
            <a:avLst/>
          </a:prstGeom>
          <a:solidFill>
            <a:srgbClr val="F4FBF8"/>
          </a:solidFill>
          <a:ln w="9525">
            <a:solidFill>
              <a:srgbClr val="8EC7BB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05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保留同场景配对</a:t>
            </a:r>
            <a:endParaRPr sz="1050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下箭头 15"/>
          <p:cNvSpPr>
            <a:spLocks noGrp="1"/>
          </p:cNvSpPr>
          <p:nvPr/>
        </p:nvSpPr>
        <p:spPr>
          <a:xfrm>
            <a:off x="4448175" y="2533650"/>
            <a:ext cx="171450" cy="171450"/>
          </a:xfrm>
          <a:prstGeom prst="downArrow">
            <a:avLst/>
          </a:prstGeom>
          <a:solidFill>
            <a:srgbClr val="347F70"/>
          </a:solidFill>
          <a:ln w="0">
            <a:solidFill>
              <a:srgbClr val="347F7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400425" y="2743200"/>
            <a:ext cx="2266950" cy="428625"/>
          </a:xfrm>
          <a:prstGeom prst="rect">
            <a:avLst/>
          </a:prstGeom>
          <a:solidFill>
            <a:srgbClr val="F4FBF8"/>
          </a:solidFill>
          <a:ln w="9525">
            <a:solidFill>
              <a:srgbClr val="8EC7BB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90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每对内部随机交换版本标签</a:t>
            </a:r>
            <a:endParaRPr sz="900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下箭头 17"/>
          <p:cNvSpPr>
            <a:spLocks noGrp="1"/>
          </p:cNvSpPr>
          <p:nvPr/>
        </p:nvSpPr>
        <p:spPr>
          <a:xfrm>
            <a:off x="4448175" y="3190875"/>
            <a:ext cx="171450" cy="171450"/>
          </a:xfrm>
          <a:prstGeom prst="downArrow">
            <a:avLst/>
          </a:prstGeom>
          <a:solidFill>
            <a:srgbClr val="347F70"/>
          </a:solidFill>
          <a:ln w="0">
            <a:solidFill>
              <a:srgbClr val="347F7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619500" y="3400425"/>
            <a:ext cx="18288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8EC7BB"/>
            </a:solidFill>
            <a:prstDash val="solid"/>
          </a:ln>
        </p:spPr>
        <p:txBody>
          <a:bodyPr wrap="square" lIns="57150" tIns="38100" rIns="57150" bIns="38100" anchor="ctr">
            <a:normAutofit fontScale="90000"/>
          </a:bodyPr>
          <a:lstStyle/>
          <a:p>
            <a:pPr algn="ctr">
              <a:defRPr sz="154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 = 0.00176</a:t>
            </a:r>
            <a:endParaRPr sz="1540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54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54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背景噪声小</a:t>
            </a:r>
            <a:r>
              <a:rPr sz="154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成功检出</a:t>
            </a:r>
            <a:endParaRPr sz="1540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04825" y="4171950"/>
            <a:ext cx="5162550" cy="323850"/>
          </a:xfrm>
          <a:prstGeom prst="rect">
            <a:avLst/>
          </a:prstGeom>
          <a:solidFill>
            <a:srgbClr val="EDF6FB"/>
          </a:solidFill>
          <a:ln w="9525">
            <a:solidFill>
              <a:srgbClr val="7CCED7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94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同场景配对是实验设计的一部分，不能在统计检验时打散。</a:t>
            </a:r>
            <a:endParaRPr sz="940" b="1">
              <a:solidFill>
                <a:srgbClr val="174A7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76250" y="45529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1912"/>
          </a:bodyPr>
          <a:lstStyle/>
          <a:p>
            <a:pPr algn="l">
              <a:defRPr sz="109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独立锁定验证</a:t>
            </a:r>
            <a:endParaRPr sz="109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57200" y="4800600"/>
            <a:ext cx="5257800" cy="866775"/>
          </a:xfrm>
          <a:prstGeom prst="rect">
            <a:avLst/>
          </a:prstGeom>
          <a:solidFill>
            <a:srgbClr val="FFF9EF"/>
          </a:solidFill>
          <a:ln w="10478">
            <a:solidFill>
              <a:srgbClr val="E3BE83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93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93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又找了</a:t>
            </a:r>
            <a:r>
              <a:rPr sz="93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310对全新日志 / 场景，与开发集无重叠</a:t>
            </a:r>
            <a:endParaRPr sz="930" b="1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93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MMD² = 0.00447    p ≈ 1×10⁻⁵</a:t>
            </a:r>
            <a:endParaRPr sz="930" b="1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93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同场景配对结论在独立数据上仍成立</a:t>
            </a:r>
            <a:endParaRPr sz="930" b="1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panel-2"/>
          <p:cNvSpPr>
            <a:spLocks noGrp="1"/>
          </p:cNvSpPr>
          <p:nvPr/>
        </p:nvSpPr>
        <p:spPr>
          <a:xfrm>
            <a:off x="6172200" y="933450"/>
            <a:ext cx="5791200" cy="5067300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11430">
            <a:solidFill>
              <a:srgbClr val="BB7E28"/>
            </a:solidFill>
            <a:prstDash val="solid"/>
          </a:ln>
        </p:spPr>
      </p:sp>
      <p:sp>
        <p:nvSpPr>
          <p:cNvPr id="24" name="panel-header-2"/>
          <p:cNvSpPr>
            <a:spLocks noGrp="1"/>
          </p:cNvSpPr>
          <p:nvPr/>
        </p:nvSpPr>
        <p:spPr>
          <a:xfrm>
            <a:off x="6172200" y="933450"/>
            <a:ext cx="5791200" cy="457200"/>
          </a:xfrm>
          <a:prstGeom prst="roundRect">
            <a:avLst>
              <a:gd name="adj" fmla="val 25000"/>
            </a:avLst>
          </a:prstGeom>
          <a:solidFill>
            <a:srgbClr val="BB7E28"/>
          </a:solidFill>
          <a:ln w="0">
            <a:solidFill>
              <a:srgbClr val="BB7E2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286500" y="1009650"/>
            <a:ext cx="304800" cy="304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defRPr sz="120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20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0" y="971550"/>
            <a:ext cx="5181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异场景：任务条件化的版本级BDD监控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743700" y="1485900"/>
            <a:ext cx="4648200" cy="295275"/>
          </a:xfrm>
          <a:prstGeom prst="rect">
            <a:avLst/>
          </a:prstGeom>
          <a:solidFill>
            <a:srgbClr val="F7FAFC"/>
          </a:solidFill>
          <a:ln w="9525">
            <a:solidFill>
              <a:srgbClr val="C9DCE9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870" b="1">
                <a:solidFill>
                  <a:srgbClr val="8BA0B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70" b="1">
                <a:solidFill>
                  <a:srgbClr val="8BA0B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两个版本来自不同日志 / 不同场景</a:t>
            </a:r>
            <a:endParaRPr sz="870" b="1">
              <a:solidFill>
                <a:srgbClr val="8BA0B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下箭头 27"/>
          <p:cNvSpPr>
            <a:spLocks noGrp="1"/>
          </p:cNvSpPr>
          <p:nvPr/>
        </p:nvSpPr>
        <p:spPr>
          <a:xfrm>
            <a:off x="8982075" y="1790700"/>
            <a:ext cx="171450" cy="171450"/>
          </a:xfrm>
          <a:prstGeom prst="downArrow">
            <a:avLst/>
          </a:prstGeom>
          <a:solidFill>
            <a:srgbClr val="8BA0B2"/>
          </a:solidFill>
          <a:ln w="0">
            <a:solidFill>
              <a:srgbClr val="8BA0B2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743700" y="1971675"/>
            <a:ext cx="4648200" cy="323850"/>
          </a:xfrm>
          <a:prstGeom prst="rect">
            <a:avLst/>
          </a:prstGeom>
          <a:solidFill>
            <a:srgbClr val="FFF9EF"/>
          </a:solidFill>
          <a:ln w="9525">
            <a:solidFill>
              <a:srgbClr val="E3BE83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84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按任务 / 场景类型切片，在可比场景中分别比较行为分布</a:t>
            </a:r>
            <a:endParaRPr sz="840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下箭头 29"/>
          <p:cNvSpPr>
            <a:spLocks noGrp="1"/>
          </p:cNvSpPr>
          <p:nvPr/>
        </p:nvSpPr>
        <p:spPr>
          <a:xfrm>
            <a:off x="7162800" y="2314575"/>
            <a:ext cx="171450" cy="171450"/>
          </a:xfrm>
          <a:prstGeom prst="downArrow">
            <a:avLst/>
          </a:prstGeom>
          <a:solidFill>
            <a:srgbClr val="BB7E28"/>
          </a:solidFill>
          <a:ln w="0">
            <a:solidFill>
              <a:srgbClr val="BB7E2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505575" y="2514600"/>
            <a:ext cx="1428750" cy="409575"/>
          </a:xfrm>
          <a:prstGeom prst="rect">
            <a:avLst/>
          </a:prstGeom>
          <a:solidFill>
            <a:srgbClr val="F8F5FC"/>
          </a:solidFill>
          <a:ln w="9525">
            <a:solidFill>
              <a:srgbClr val="B7A5D6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87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7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跟车</a:t>
            </a:r>
            <a:endParaRPr sz="870" b="1">
              <a:solidFill>
                <a:srgbClr val="7357A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87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7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BDD</a:t>
            </a:r>
            <a:endParaRPr sz="870" b="1">
              <a:solidFill>
                <a:srgbClr val="7357A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下箭头 31"/>
          <p:cNvSpPr>
            <a:spLocks noGrp="1"/>
          </p:cNvSpPr>
          <p:nvPr/>
        </p:nvSpPr>
        <p:spPr>
          <a:xfrm>
            <a:off x="7162800" y="2943225"/>
            <a:ext cx="171450" cy="171450"/>
          </a:xfrm>
          <a:prstGeom prst="downArrow">
            <a:avLst/>
          </a:prstGeom>
          <a:solidFill>
            <a:srgbClr val="347F70"/>
          </a:solidFill>
          <a:ln w="0">
            <a:solidFill>
              <a:srgbClr val="347F70"/>
            </a:solidFill>
            <a:prstDash val="solid"/>
          </a:ln>
        </p:spPr>
      </p:sp>
      <p:sp>
        <p:nvSpPr>
          <p:cNvPr id="33" name="下箭头 32"/>
          <p:cNvSpPr>
            <a:spLocks noGrp="1"/>
          </p:cNvSpPr>
          <p:nvPr/>
        </p:nvSpPr>
        <p:spPr>
          <a:xfrm>
            <a:off x="8810625" y="2314575"/>
            <a:ext cx="171450" cy="171450"/>
          </a:xfrm>
          <a:prstGeom prst="downArrow">
            <a:avLst/>
          </a:prstGeom>
          <a:solidFill>
            <a:srgbClr val="BB7E28"/>
          </a:solidFill>
          <a:ln w="0">
            <a:solidFill>
              <a:srgbClr val="BB7E2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153400" y="2514600"/>
            <a:ext cx="1428750" cy="409575"/>
          </a:xfrm>
          <a:prstGeom prst="rect">
            <a:avLst/>
          </a:prstGeom>
          <a:solidFill>
            <a:srgbClr val="F8F5FC"/>
          </a:solidFill>
          <a:ln w="9525">
            <a:solidFill>
              <a:srgbClr val="B7A5D6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87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7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变道</a:t>
            </a:r>
            <a:endParaRPr sz="870" b="1">
              <a:solidFill>
                <a:srgbClr val="7357A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87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7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BDD</a:t>
            </a:r>
            <a:endParaRPr sz="870" b="1">
              <a:solidFill>
                <a:srgbClr val="7357A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下箭头 34"/>
          <p:cNvSpPr>
            <a:spLocks noGrp="1"/>
          </p:cNvSpPr>
          <p:nvPr/>
        </p:nvSpPr>
        <p:spPr>
          <a:xfrm>
            <a:off x="8810625" y="2943225"/>
            <a:ext cx="171450" cy="171450"/>
          </a:xfrm>
          <a:prstGeom prst="downArrow">
            <a:avLst/>
          </a:prstGeom>
          <a:solidFill>
            <a:srgbClr val="347F70"/>
          </a:solidFill>
          <a:ln w="0">
            <a:solidFill>
              <a:srgbClr val="347F70"/>
            </a:solidFill>
            <a:prstDash val="solid"/>
          </a:ln>
        </p:spPr>
      </p:sp>
      <p:sp>
        <p:nvSpPr>
          <p:cNvPr id="36" name="下箭头 35"/>
          <p:cNvSpPr>
            <a:spLocks noGrp="1"/>
          </p:cNvSpPr>
          <p:nvPr/>
        </p:nvSpPr>
        <p:spPr>
          <a:xfrm>
            <a:off x="10458450" y="2314575"/>
            <a:ext cx="171450" cy="171450"/>
          </a:xfrm>
          <a:prstGeom prst="downArrow">
            <a:avLst/>
          </a:prstGeom>
          <a:solidFill>
            <a:srgbClr val="BB7E28"/>
          </a:solidFill>
          <a:ln w="0">
            <a:solidFill>
              <a:srgbClr val="BB7E28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801225" y="2514600"/>
            <a:ext cx="1428750" cy="409575"/>
          </a:xfrm>
          <a:prstGeom prst="rect">
            <a:avLst/>
          </a:prstGeom>
          <a:solidFill>
            <a:srgbClr val="F8F5FC"/>
          </a:solidFill>
          <a:ln w="9525">
            <a:solidFill>
              <a:srgbClr val="B7A5D6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87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7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停车 / 起步等</a:t>
            </a:r>
            <a:endParaRPr sz="870" b="1">
              <a:solidFill>
                <a:srgbClr val="7357A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87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70" b="1">
                <a:solidFill>
                  <a:srgbClr val="7357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BDD</a:t>
            </a:r>
            <a:endParaRPr sz="870" b="1">
              <a:solidFill>
                <a:srgbClr val="7357A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下箭头 37"/>
          <p:cNvSpPr>
            <a:spLocks noGrp="1"/>
          </p:cNvSpPr>
          <p:nvPr/>
        </p:nvSpPr>
        <p:spPr>
          <a:xfrm>
            <a:off x="10458450" y="2943225"/>
            <a:ext cx="171450" cy="171450"/>
          </a:xfrm>
          <a:prstGeom prst="downArrow">
            <a:avLst/>
          </a:prstGeom>
          <a:solidFill>
            <a:srgbClr val="347F70"/>
          </a:solidFill>
          <a:ln w="0">
            <a:solidFill>
              <a:srgbClr val="347F70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743700" y="3095625"/>
            <a:ext cx="4648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67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任务切片示意，不代表只有以上三类</a:t>
            </a:r>
            <a:endParaRPr sz="675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743700" y="3276600"/>
            <a:ext cx="4648200" cy="276225"/>
          </a:xfrm>
          <a:prstGeom prst="rect">
            <a:avLst/>
          </a:prstGeom>
          <a:solidFill>
            <a:srgbClr val="F4FBF8"/>
          </a:solidFill>
          <a:ln w="9525">
            <a:solidFill>
              <a:srgbClr val="8EC7BB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81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按预先固定的任务比例 / 权重汇总</a:t>
            </a:r>
            <a:endParaRPr sz="810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下箭头 40"/>
          <p:cNvSpPr>
            <a:spLocks noGrp="1"/>
          </p:cNvSpPr>
          <p:nvPr/>
        </p:nvSpPr>
        <p:spPr>
          <a:xfrm>
            <a:off x="8982075" y="3562350"/>
            <a:ext cx="171450" cy="171450"/>
          </a:xfrm>
          <a:prstGeom prst="downArrow">
            <a:avLst/>
          </a:prstGeom>
          <a:solidFill>
            <a:srgbClr val="347F70"/>
          </a:solidFill>
          <a:ln w="0">
            <a:solidFill>
              <a:srgbClr val="347F70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743700" y="3743325"/>
            <a:ext cx="4648200" cy="295275"/>
          </a:xfrm>
          <a:prstGeom prst="rect">
            <a:avLst/>
          </a:prstGeom>
          <a:solidFill>
            <a:srgbClr val="EDF6FB"/>
          </a:solidFill>
          <a:ln w="9525">
            <a:solidFill>
              <a:srgbClr val="215B94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825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版本级任务条件化BDD与A/A背景比较  →  是否检出漂移</a:t>
            </a:r>
            <a:endParaRPr sz="825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419850" y="4222115"/>
            <a:ext cx="2533650" cy="474980"/>
          </a:xfrm>
          <a:prstGeom prst="roundRect">
            <a:avLst>
              <a:gd name="adj" fmla="val 12987"/>
            </a:avLst>
          </a:prstGeom>
          <a:solidFill>
            <a:srgbClr val="F4FBF8"/>
          </a:solidFill>
          <a:ln w="9525">
            <a:solidFill>
              <a:srgbClr val="347F70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6515100" y="4260215"/>
            <a:ext cx="2343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defRPr sz="154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40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版本差异检出率  65.0%</a:t>
            </a:r>
            <a:endParaRPr sz="1540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9067800" y="4222115"/>
            <a:ext cx="2647950" cy="465455"/>
          </a:xfrm>
          <a:prstGeom prst="roundRect">
            <a:avLst>
              <a:gd name="adj" fmla="val 12987"/>
            </a:avLst>
          </a:prstGeom>
          <a:solidFill>
            <a:srgbClr val="EDF6FB"/>
          </a:solidFill>
          <a:ln w="9525">
            <a:solidFill>
              <a:srgbClr val="215B94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163050" y="4260215"/>
            <a:ext cx="2457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defRPr sz="141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1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无版本差异时误报率  5.5%</a:t>
            </a:r>
            <a:endParaRPr sz="141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496050" y="4914900"/>
            <a:ext cx="5143500" cy="457200"/>
          </a:xfrm>
          <a:prstGeom prst="rect">
            <a:avLst/>
          </a:prstGeom>
          <a:solidFill>
            <a:srgbClr val="FFF4F3"/>
          </a:solidFill>
          <a:ln w="9525">
            <a:solidFill>
              <a:srgbClr val="E9A5A0"/>
            </a:solidFill>
            <a:prstDash val="solid"/>
          </a:ln>
        </p:spPr>
        <p:txBody>
          <a:bodyPr wrap="square" lIns="47625" tIns="19050" rIns="47625" bIns="19050" anchor="ctr">
            <a:normAutofit/>
          </a:bodyPr>
          <a:lstStyle/>
          <a:p>
            <a:pPr algn="ctr">
              <a:defRPr sz="1035" b="1">
                <a:solidFill>
                  <a:srgbClr val="C64A4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35" b="1">
                <a:solidFill>
                  <a:srgbClr val="C64A4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仍有35.0%的真实A/B版本差异未被检出</a:t>
            </a:r>
            <a:endParaRPr sz="1035" b="1">
              <a:solidFill>
                <a:srgbClr val="C64A4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035" b="1">
                <a:solidFill>
                  <a:srgbClr val="C64A4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35" b="1">
                <a:solidFill>
                  <a:srgbClr val="C64A4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第一代64维表示仍不足以支持高可靠版本告警</a:t>
            </a:r>
            <a:endParaRPr sz="1035" b="1">
              <a:solidFill>
                <a:srgbClr val="C64A4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bottom-conclusion"/>
          <p:cNvSpPr>
            <a:spLocks noGrp="1"/>
          </p:cNvSpPr>
          <p:nvPr/>
        </p:nvSpPr>
        <p:spPr>
          <a:xfrm>
            <a:off x="160655" y="6191250"/>
            <a:ext cx="11887200" cy="457200"/>
          </a:xfrm>
          <a:prstGeom prst="rect">
            <a:avLst/>
          </a:prstGeom>
          <a:solidFill>
            <a:srgbClr val="EDF6FB"/>
          </a:solidFill>
          <a:ln w="0">
            <a:noFill/>
            <a:prstDash val="solid"/>
          </a:ln>
        </p:spPr>
        <p:txBody>
          <a:bodyPr wrap="square" lIns="114300" tIns="47625" rIns="114300" bIns="47625" anchor="ctr"/>
          <a:lstStyle/>
          <a:p>
            <a:pPr algn="ctr">
              <a:defRPr sz="93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同场景通过配对控制场景差异，用于</a:t>
            </a:r>
            <a:r>
              <a:rPr lang="zh-CN" sz="140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确认同场景模型可用性</a:t>
            </a:r>
            <a:r>
              <a:rPr sz="140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；异场景通过任务 / 场景切片控制异质性，并结合A/A背景标定进行版本级漂移监控。</a:t>
            </a:r>
            <a:endParaRPr sz="1400" b="1">
              <a:solidFill>
                <a:srgbClr val="174A7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1365" cy="742950"/>
          </a:xfrm>
          <a:prstGeom prst="rect">
            <a:avLst/>
          </a:prstGeom>
          <a:solidFill>
            <a:srgbClr val="245A91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295275" y="47625"/>
            <a:ext cx="11620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>
                <a:sym typeface="+mn-ea"/>
              </a:rPr>
              <a:t>1</a:t>
            </a:r>
            <a:r>
              <a:rPr lang="en-US">
                <a:sym typeface="+mn-ea"/>
              </a:rPr>
              <a:t>1</a:t>
            </a:r>
            <a:r>
              <a:rPr>
                <a:sym typeface="+mn-ea"/>
              </a:rPr>
              <a:t>.</a:t>
            </a:r>
            <a:r>
              <a:rPr lang="en-US">
                <a:sym typeface="+mn-ea"/>
              </a:rPr>
              <a:t>2</a:t>
            </a:r>
            <a:r>
              <a:rPr>
                <a:sym typeface="+mn-ea"/>
              </a:rPr>
              <a:t>  </a:t>
            </a:r>
            <a:r>
              <a:rPr lang="zh-CN">
                <a:sym typeface="+mn-ea"/>
              </a:rPr>
              <a:t>已完成的部分研究成果</a:t>
            </a:r>
            <a:r>
              <a:rPr>
                <a:sym typeface="+mn-ea"/>
              </a:rPr>
              <a:t>：</a:t>
            </a:r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同场景纵向策略产生真实行为变化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295275" y="428625"/>
            <a:ext cx="11525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125" b="0">
                <a:solidFill>
                  <a:srgbClr val="DD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DD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Waymo训练的冻结64维表示用于nuPlan闭环结果评价</a:t>
            </a:r>
            <a:endParaRPr sz="1125" b="0">
              <a:solidFill>
                <a:srgbClr val="DDECF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50" y="2154647"/>
            <a:ext cx="8172450" cy="3005907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8658225" y="1352550"/>
            <a:ext cx="3190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183对场景配对</a:t>
            </a:r>
            <a:endParaRPr sz="187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658225" y="1790700"/>
            <a:ext cx="3257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366条闭环仿真轨迹 · 156个日志</a:t>
            </a:r>
            <a:endParaRPr sz="127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58225" y="2324100"/>
            <a:ext cx="3257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C37C2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C37C2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Δ = Target − Reference</a:t>
            </a:r>
            <a:endParaRPr sz="1500" b="1">
              <a:solidFill>
                <a:srgbClr val="C37C2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658225" y="2838450"/>
            <a:ext cx="3257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425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平均速度差</a:t>
            </a:r>
            <a:endParaRPr sz="1425" b="1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658225" y="3171825"/>
            <a:ext cx="32575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32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+0.9147 m/s</a:t>
            </a:r>
            <a:endParaRPr sz="232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658225" y="3609975"/>
            <a:ext cx="3257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0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95% CI  [0.7578, 1.0784]</a:t>
            </a:r>
            <a:endParaRPr sz="1200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658225" y="4191000"/>
            <a:ext cx="3257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425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RMS加速度差</a:t>
            </a:r>
            <a:endParaRPr sz="1425" b="1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658225" y="4524375"/>
            <a:ext cx="32575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100" b="1">
                <a:solidFill>
                  <a:srgbClr val="3482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3482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+0.1816 m/s²</a:t>
            </a:r>
            <a:endParaRPr sz="2100" b="1">
              <a:solidFill>
                <a:srgbClr val="3482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58225" y="4962525"/>
            <a:ext cx="3257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0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95% CI  [0.1456, 0.2175]</a:t>
            </a:r>
            <a:endParaRPr sz="1200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33375" y="5905500"/>
            <a:ext cx="11506200" cy="9525"/>
          </a:xfrm>
          <a:prstGeom prst="rect">
            <a:avLst/>
          </a:prstGeom>
          <a:solidFill>
            <a:srgbClr val="D7E2EB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33375" y="6057900"/>
            <a:ext cx="11525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先确认规划器确实改变了纵向行为，再检验行为分布差异</a:t>
            </a:r>
            <a:endParaRPr sz="1650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43330" y="1583690"/>
            <a:ext cx="5498465" cy="855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2191365" cy="742950"/>
          </a:xfrm>
          <a:prstGeom prst="rect">
            <a:avLst/>
          </a:prstGeom>
          <a:solidFill>
            <a:srgbClr val="245A91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295275" y="47625"/>
            <a:ext cx="11620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>
                <a:sym typeface="+mn-ea"/>
              </a:rPr>
              <a:t>1</a:t>
            </a:r>
            <a:r>
              <a:rPr lang="en-US">
                <a:sym typeface="+mn-ea"/>
              </a:rPr>
              <a:t>1</a:t>
            </a:r>
            <a:r>
              <a:rPr>
                <a:sym typeface="+mn-ea"/>
              </a:rPr>
              <a:t>.</a:t>
            </a:r>
            <a:r>
              <a:rPr lang="en-US">
                <a:sym typeface="+mn-ea"/>
              </a:rPr>
              <a:t>2</a:t>
            </a:r>
            <a:r>
              <a:rPr>
                <a:sym typeface="+mn-ea"/>
              </a:rPr>
              <a:t>  </a:t>
            </a:r>
            <a:r>
              <a:rPr lang="zh-CN">
                <a:sym typeface="+mn-ea"/>
              </a:rPr>
              <a:t>已完成的部分研究成果</a:t>
            </a:r>
            <a:r>
              <a:rPr>
                <a:sym typeface="+mn-ea"/>
              </a:rPr>
              <a:t>：</a:t>
            </a:r>
            <a:r>
              <a:rPr lang="zh-CN">
                <a:sym typeface="+mn-ea"/>
              </a:rPr>
              <a:t>背景波动</a:t>
            </a:r>
            <a:r>
              <a:rPr lang="en-US" altLang="zh-CN">
                <a:sym typeface="+mn-ea"/>
              </a:rPr>
              <a:t>-</a:t>
            </a:r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观测差异超过同场景随机化背景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295275" y="428625"/>
            <a:ext cx="11525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125" b="0">
                <a:solidFill>
                  <a:srgbClr val="DD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DD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BDD检验使用MMD²量化当前行为表示的分布差异</a:t>
            </a:r>
            <a:endParaRPr sz="1125" b="0">
              <a:solidFill>
                <a:srgbClr val="DDECF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120" y="1066800"/>
            <a:ext cx="11123759" cy="538162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438150" y="6467475"/>
            <a:ext cx="11430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183对场景配对；每对内部随机交换标签100,000次。实际MMD² = 0.00500090，</a:t>
            </a:r>
            <a:r>
              <a:rPr lang="zh-CN" altLang="en-US" sz="12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实际差异约为背景95%分位的2.38倍</a:t>
            </a:r>
            <a:endParaRPr lang="zh-CN" altLang="en-US" sz="127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48025" y="1156335"/>
            <a:ext cx="6356985" cy="443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183对同场景样本，10万次配对标签随机化检验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044180" y="1760855"/>
            <a:ext cx="2049145" cy="9207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10万次随机化</a:t>
            </a:r>
            <a:endParaRPr lang="zh-CN" altLang="en-US"/>
          </a:p>
          <a:p>
            <a:pPr algn="ctr"/>
            <a:r>
              <a:rPr lang="zh-CN" altLang="en-US"/>
              <a:t>0次达到实际差异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op-title-bar"/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215B94"/>
          </a:solidFill>
          <a:ln w="0">
            <a:solidFill>
              <a:srgbClr val="215B94"/>
            </a:solidFill>
            <a:prstDash val="solid"/>
          </a:ln>
        </p:spPr>
      </p:sp>
      <p:sp>
        <p:nvSpPr>
          <p:cNvPr id="2" name="slide-title"/>
          <p:cNvSpPr>
            <a:spLocks noGrp="1"/>
          </p:cNvSpPr>
          <p:nvPr/>
        </p:nvSpPr>
        <p:spPr>
          <a:xfrm>
            <a:off x="304800" y="47625"/>
            <a:ext cx="11582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>
                <a:sym typeface="+mn-ea"/>
              </a:rPr>
              <a:t>1</a:t>
            </a:r>
            <a:r>
              <a:rPr lang="en-US">
                <a:sym typeface="+mn-ea"/>
              </a:rPr>
              <a:t>1</a:t>
            </a:r>
            <a:r>
              <a:rPr>
                <a:sym typeface="+mn-ea"/>
              </a:rPr>
              <a:t>.</a:t>
            </a:r>
            <a:r>
              <a:rPr lang="en-US">
                <a:sym typeface="+mn-ea"/>
              </a:rPr>
              <a:t>2</a:t>
            </a:r>
            <a:r>
              <a:rPr>
                <a:sym typeface="+mn-ea"/>
              </a:rPr>
              <a:t>  </a:t>
            </a:r>
            <a:r>
              <a:rPr lang="zh-CN">
                <a:sym typeface="+mn-ea"/>
              </a:rPr>
              <a:t>已完成的部分研究成果</a:t>
            </a:r>
            <a:r>
              <a:rPr>
                <a:sym typeface="+mn-ea"/>
              </a:rPr>
              <a:t>：</a:t>
            </a: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BDD对纵向</a:t>
            </a:r>
            <a:r>
              <a:rPr lang="zh-CN"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不同参数</a:t>
            </a: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干预强度呈现响应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304800" y="409575"/>
            <a:ext cx="1000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15" b="0">
                <a:solidFill>
                  <a:srgbClr val="DC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DC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逐步增加规划</a:t>
            </a:r>
            <a:r>
              <a:rPr lang="zh-CN" sz="1015" b="0">
                <a:solidFill>
                  <a:srgbClr val="DC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软件</a:t>
            </a:r>
            <a:r>
              <a:rPr sz="1015" b="0">
                <a:solidFill>
                  <a:srgbClr val="DC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纵向参数名义干预强度，观察真实行为变化与行为分布差异的同步响应</a:t>
            </a:r>
            <a:endParaRPr sz="1015" b="0">
              <a:solidFill>
                <a:srgbClr val="DCECF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266700" y="981075"/>
            <a:ext cx="3752850" cy="36671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7CCED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19100" y="1066800"/>
            <a:ext cx="3448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275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平均速度变化</a:t>
            </a:r>
            <a:endParaRPr sz="1275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28" name="Chart"/>
          <p:cNvGraphicFramePr/>
          <p:nvPr/>
        </p:nvGraphicFramePr>
        <p:xfrm>
          <a:off x="400050" y="1428750"/>
          <a:ext cx="348615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圆角矩形 6"/>
          <p:cNvSpPr>
            <a:spLocks noGrp="1"/>
          </p:cNvSpPr>
          <p:nvPr/>
        </p:nvSpPr>
        <p:spPr>
          <a:xfrm>
            <a:off x="4219575" y="981075"/>
            <a:ext cx="3752850" cy="36671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8EC7B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371975" y="1066800"/>
            <a:ext cx="3448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275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347F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RMS加速度变化</a:t>
            </a:r>
            <a:endParaRPr sz="1275" b="1">
              <a:solidFill>
                <a:srgbClr val="347F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31" name="Chart"/>
          <p:cNvGraphicFramePr/>
          <p:nvPr/>
        </p:nvGraphicFramePr>
        <p:xfrm>
          <a:off x="4352925" y="1428750"/>
          <a:ext cx="348615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圆角矩形 9"/>
          <p:cNvSpPr>
            <a:spLocks noGrp="1"/>
          </p:cNvSpPr>
          <p:nvPr/>
        </p:nvSpPr>
        <p:spPr>
          <a:xfrm>
            <a:off x="8172450" y="981075"/>
            <a:ext cx="3752850" cy="36671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3BE83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324850" y="1066800"/>
            <a:ext cx="3448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275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BB7E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整体行为分布差异（MMD²）</a:t>
            </a:r>
            <a:endParaRPr sz="1275" b="1">
              <a:solidFill>
                <a:srgbClr val="BB7E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34" name="Chart"/>
          <p:cNvGraphicFramePr/>
          <p:nvPr/>
        </p:nvGraphicFramePr>
        <p:xfrm>
          <a:off x="8305800" y="1428750"/>
          <a:ext cx="348615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圆角矩形 12"/>
          <p:cNvSpPr>
            <a:spLocks noGrp="1"/>
          </p:cNvSpPr>
          <p:nvPr/>
        </p:nvSpPr>
        <p:spPr>
          <a:xfrm>
            <a:off x="304800" y="4819650"/>
            <a:ext cx="3524250" cy="990600"/>
          </a:xfrm>
          <a:prstGeom prst="roundRect">
            <a:avLst>
              <a:gd name="adj" fmla="val 9615"/>
            </a:avLst>
          </a:prstGeom>
          <a:solidFill>
            <a:srgbClr val="EDF6FB"/>
          </a:solidFill>
          <a:ln w="11430">
            <a:solidFill>
              <a:srgbClr val="7CCED7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57200" y="4867275"/>
            <a:ext cx="3219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1065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65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25%：本实验已测试档位中最小可检出干预</a:t>
            </a:r>
            <a:endParaRPr sz="1065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57200" y="5124450"/>
            <a:ext cx="32194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9947"/>
          </a:bodyPr>
          <a:lstStyle/>
          <a:p>
            <a:pPr algn="l">
              <a:defRPr sz="94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观测MMD² / 背景95%分位 = 1.29</a:t>
            </a:r>
            <a:endParaRPr sz="940" b="1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57200" y="5562600"/>
            <a:ext cx="3219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66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背景95%分位：无系统版本效应时背景MMD²分布的95%分位点</a:t>
            </a:r>
            <a:endParaRPr sz="660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095750" y="4819650"/>
            <a:ext cx="7620000" cy="990600"/>
          </a:xfrm>
          <a:prstGeom prst="roundRect">
            <a:avLst>
              <a:gd name="adj" fmla="val 9615"/>
            </a:avLst>
          </a:prstGeom>
          <a:solidFill>
            <a:srgbClr val="F7FAFC"/>
          </a:solidFill>
          <a:ln w="9525">
            <a:solidFill>
              <a:srgbClr val="C9DCE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219575" y="5134610"/>
            <a:ext cx="7315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9525" rIns="57150" bIns="9525" anchor="ctr"/>
          <a:lstStyle/>
          <a:p>
            <a:pPr algn="ctr">
              <a:defRPr sz="99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参数干预增强  →  物理行为变化增强  →  MMD²总体响应</a:t>
            </a:r>
            <a:endParaRPr sz="1090" b="1">
              <a:solidFill>
                <a:srgbClr val="174A7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bottom-conclusion"/>
          <p:cNvSpPr>
            <a:spLocks noGrp="1"/>
          </p:cNvSpPr>
          <p:nvPr/>
        </p:nvSpPr>
        <p:spPr>
          <a:xfrm>
            <a:off x="152400" y="6191250"/>
            <a:ext cx="11887200" cy="457200"/>
          </a:xfrm>
          <a:prstGeom prst="rect">
            <a:avLst/>
          </a:prstGeom>
          <a:solidFill>
            <a:srgbClr val="EDF6FB"/>
          </a:solidFill>
          <a:ln w="0">
            <a:noFill/>
            <a:prstDash val="solid"/>
          </a:ln>
        </p:spPr>
        <p:txBody>
          <a:bodyPr wrap="square" lIns="114300" tIns="47625" rIns="114300" bIns="47625" anchor="ctr">
            <a:normAutofit/>
          </a:bodyPr>
          <a:lstStyle/>
          <a:p>
            <a:pPr algn="ctr">
              <a:defRPr sz="945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1">
                <a:solidFill>
                  <a:srgbClr val="174A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随纵向参数干预增强，真实物理行为差异与MMD²总体同步增大。最小测试档25%已超过背景波动并被检出，说明BDD具备检测较弱版本变化的基础。</a:t>
            </a:r>
            <a:endParaRPr sz="945" b="1">
              <a:solidFill>
                <a:srgbClr val="174A7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0" y="0"/>
            <a:ext cx="12191365" cy="742950"/>
          </a:xfrm>
          <a:prstGeom prst="rect">
            <a:avLst/>
          </a:prstGeom>
          <a:solidFill>
            <a:srgbClr val="245A91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295275" y="47625"/>
            <a:ext cx="11620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>
                <a:sym typeface="+mn-ea"/>
              </a:rPr>
              <a:t>1</a:t>
            </a:r>
            <a:r>
              <a:rPr lang="en-US">
                <a:sym typeface="+mn-ea"/>
              </a:rPr>
              <a:t>1</a:t>
            </a:r>
            <a:r>
              <a:rPr>
                <a:sym typeface="+mn-ea"/>
              </a:rPr>
              <a:t>.</a:t>
            </a:r>
            <a:r>
              <a:rPr lang="en-US">
                <a:sym typeface="+mn-ea"/>
              </a:rPr>
              <a:t>3</a:t>
            </a:r>
            <a:r>
              <a:rPr>
                <a:sym typeface="+mn-ea"/>
              </a:rPr>
              <a:t>  </a:t>
            </a:r>
            <a:r>
              <a:rPr lang="zh-CN">
                <a:sym typeface="+mn-ea"/>
              </a:rPr>
              <a:t>已完成的部分研究成果</a:t>
            </a:r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：场景配对改变检验背景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295275" y="428625"/>
            <a:ext cx="11525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125" b="0">
                <a:solidFill>
                  <a:srgbClr val="DD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DD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同一45对数据、同一64维表示、同一核与观测MMD²</a:t>
            </a:r>
            <a:endParaRPr sz="1125" b="0">
              <a:solidFill>
                <a:srgbClr val="DDECF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328492"/>
            <a:ext cx="11734800" cy="4553441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295275" y="6172200"/>
            <a:ext cx="11620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50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相同数据、相同观测差异，仅改变随机化方式，结果从未检出变为检出；同场景评价应保留场景配对结构。</a:t>
            </a:r>
            <a:endParaRPr lang="zh-CN" altLang="en-US" sz="1500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7265" y="1529080"/>
            <a:ext cx="4983480" cy="443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忽略场景配对：整体随机打乱版本标签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837045" y="1529080"/>
            <a:ext cx="4983480" cy="443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保留场景配对：每对内部随机交换版本标签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875405" y="2077085"/>
            <a:ext cx="2085340" cy="1642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878060" y="2077085"/>
            <a:ext cx="2085340" cy="1642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0" y="0"/>
            <a:ext cx="12191365" cy="742950"/>
          </a:xfrm>
          <a:prstGeom prst="rect">
            <a:avLst/>
          </a:prstGeom>
          <a:solidFill>
            <a:srgbClr val="245A91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295275" y="47625"/>
            <a:ext cx="11620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>
                <a:sym typeface="+mn-ea"/>
              </a:rPr>
              <a:t>1</a:t>
            </a:r>
            <a:r>
              <a:rPr lang="en-US">
                <a:sym typeface="+mn-ea"/>
              </a:rPr>
              <a:t>1</a:t>
            </a:r>
            <a:r>
              <a:rPr>
                <a:sym typeface="+mn-ea"/>
              </a:rPr>
              <a:t>.</a:t>
            </a:r>
            <a:r>
              <a:rPr lang="en-US">
                <a:sym typeface="+mn-ea"/>
              </a:rPr>
              <a:t>3</a:t>
            </a:r>
            <a:r>
              <a:rPr>
                <a:sym typeface="+mn-ea"/>
              </a:rPr>
              <a:t>  </a:t>
            </a:r>
            <a:r>
              <a:rPr lang="zh-CN">
                <a:sym typeface="+mn-ea"/>
              </a:rPr>
              <a:t>已完成的部分研究成果</a:t>
            </a:r>
            <a:r>
              <a:rPr>
                <a:sym typeface="+mn-ea"/>
              </a:rPr>
              <a:t>：</a:t>
            </a:r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任务条件化BDD：A/A背景标定与版本决策阈值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542332"/>
            <a:ext cx="8124825" cy="4001936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8686800" y="1304925"/>
            <a:ext cx="3086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200次联合标定</a:t>
            </a:r>
            <a:endParaRPr sz="187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686800" y="1790700"/>
            <a:ext cx="30861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9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9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增强策略同版本100次</a:t>
            </a:r>
            <a:endParaRPr sz="139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39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9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保守策略同版本100次</a:t>
            </a:r>
            <a:endParaRPr sz="139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86800" y="2571750"/>
            <a:ext cx="3086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经验95%分位（higher）</a:t>
            </a:r>
            <a:endParaRPr sz="1500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686800" y="2962275"/>
            <a:ext cx="30861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1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1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200个分数升序，第191项</a:t>
            </a:r>
            <a:endParaRPr sz="131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686800" y="3371850"/>
            <a:ext cx="30861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175" b="1">
                <a:solidFill>
                  <a:srgbClr val="C778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C778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τ = 0.018710</a:t>
            </a:r>
            <a:endParaRPr sz="2175" b="1">
              <a:solidFill>
                <a:srgbClr val="C778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686800" y="3838575"/>
            <a:ext cx="3086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06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60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完整值 0.018709870851144592</a:t>
            </a:r>
            <a:endParaRPr sz="1060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686800" y="4381500"/>
            <a:ext cx="30861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冻结同一门槛后：</a:t>
            </a:r>
            <a:endParaRPr sz="13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另200次A/A测误报5.5%</a:t>
            </a:r>
            <a:endParaRPr sz="13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另200次A/B测检出65.0%</a:t>
            </a:r>
            <a:endParaRPr sz="13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04800" y="6067425"/>
            <a:ext cx="11506200" cy="9525"/>
          </a:xfrm>
          <a:prstGeom prst="rect">
            <a:avLst/>
          </a:prstGeom>
          <a:solidFill>
            <a:srgbClr val="D7E2EB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23850" y="6191250"/>
            <a:ext cx="114966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不同随机划分，重用同一800场景 / 489日志公共池；每次两组日志与场景互斥。</a:t>
            </a:r>
            <a:endParaRPr sz="127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12191365" cy="742950"/>
          </a:xfrm>
          <a:prstGeom prst="rect">
            <a:avLst/>
          </a:prstGeom>
          <a:solidFill>
            <a:srgbClr val="245A91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295275" y="47625"/>
            <a:ext cx="11620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>
                <a:sym typeface="+mn-ea"/>
              </a:rPr>
              <a:t>1</a:t>
            </a:r>
            <a:r>
              <a:rPr lang="en-US">
                <a:sym typeface="+mn-ea"/>
              </a:rPr>
              <a:t>1</a:t>
            </a:r>
            <a:r>
              <a:rPr>
                <a:sym typeface="+mn-ea"/>
              </a:rPr>
              <a:t>.</a:t>
            </a:r>
            <a:r>
              <a:rPr lang="en-US">
                <a:sym typeface="+mn-ea"/>
              </a:rPr>
              <a:t>3</a:t>
            </a:r>
            <a:r>
              <a:rPr>
                <a:sym typeface="+mn-ea"/>
              </a:rPr>
              <a:t>  </a:t>
            </a:r>
            <a:r>
              <a:rPr lang="zh-CN">
                <a:sym typeface="+mn-ea"/>
              </a:rPr>
              <a:t>已完成的部分研究成果</a:t>
            </a:r>
            <a:r>
              <a:rPr>
                <a:sym typeface="+mn-ea"/>
              </a:rPr>
              <a:t>：</a:t>
            </a:r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任务条件化BDD：五类任务切片的实际统计结果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1137964"/>
            <a:ext cx="11334750" cy="3962947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61950" y="5257800"/>
            <a:ext cx="11525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1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15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冻结权重 w = [0.2275, 0.08875, 0.2275, 0.2275, 0.22875]（依图中任务顺序）</a:t>
            </a:r>
            <a:endParaRPr sz="1315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61950" y="5591175"/>
            <a:ext cx="11525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24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5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真实例：A/B编号1，五切片 MMD² = [0.019387, 0.050961, 0.055664, 0.025512, 0.012743]</a:t>
            </a:r>
            <a:endParaRPr sz="1245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61950" y="5953125"/>
            <a:ext cx="115252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425" b="1">
                <a:solidFill>
                  <a:srgbClr val="C778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C778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 = Σ wₜ MMD²ₜ = 0.030316 &gt; 0.018710，触发一次版本级告警</a:t>
            </a:r>
            <a:endParaRPr sz="1425" b="1">
              <a:solidFill>
                <a:srgbClr val="C778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001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1122866"/>
            <a:ext cx="11658600" cy="5059943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2191365" cy="742950"/>
          </a:xfrm>
          <a:prstGeom prst="rect">
            <a:avLst/>
          </a:prstGeom>
          <a:solidFill>
            <a:srgbClr val="245A91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295275" y="47625"/>
            <a:ext cx="11620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>
                <a:sym typeface="+mn-ea"/>
              </a:rPr>
              <a:t>1</a:t>
            </a:r>
            <a:r>
              <a:rPr lang="en-US">
                <a:sym typeface="+mn-ea"/>
              </a:rPr>
              <a:t>1</a:t>
            </a:r>
            <a:r>
              <a:rPr>
                <a:sym typeface="+mn-ea"/>
              </a:rPr>
              <a:t>.</a:t>
            </a:r>
            <a:r>
              <a:rPr lang="en-US">
                <a:sym typeface="+mn-ea"/>
              </a:rPr>
              <a:t>3</a:t>
            </a:r>
            <a:r>
              <a:rPr>
                <a:sym typeface="+mn-ea"/>
              </a:rPr>
              <a:t>  </a:t>
            </a:r>
            <a:r>
              <a:rPr lang="zh-CN">
                <a:sym typeface="+mn-ea"/>
              </a:rPr>
              <a:t>已完成的部分研究成果</a:t>
            </a:r>
            <a:r>
              <a:rPr>
                <a:sym typeface="+mn-ea"/>
              </a:rPr>
              <a:t>：</a:t>
            </a:r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异场景任务条件化版本监控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295275" y="428625"/>
            <a:ext cx="11525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125" b="0">
                <a:solidFill>
                  <a:srgbClr val="DD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DDECF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五类任务内比较，汇总版本级分数；联合A/A定阈值，再评估误报与检出</a:t>
            </a:r>
            <a:endParaRPr sz="1125" b="0">
              <a:solidFill>
                <a:srgbClr val="DDECF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33375" y="866775"/>
            <a:ext cx="11525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0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0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五类任务：跟驰交互、换道、启停控制、高动态运动、密集交通或弱势参与者交互</a:t>
            </a:r>
            <a:endParaRPr sz="1300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381000" y="1171575"/>
            <a:ext cx="2095500" cy="304800"/>
          </a:xfrm>
          <a:prstGeom prst="roundRect">
            <a:avLst>
              <a:gd name="adj" fmla="val 25000"/>
            </a:avLst>
          </a:prstGeom>
          <a:solidFill>
            <a:srgbClr val="EEF4F8"/>
          </a:solidFill>
          <a:ln w="7620">
            <a:solidFill>
              <a:srgbClr val="C6D7E5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47675" y="1181100"/>
            <a:ext cx="19621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切片内 MMD²</a:t>
            </a:r>
            <a:endParaRPr sz="1350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2819400" y="1171575"/>
            <a:ext cx="2095500" cy="304800"/>
          </a:xfrm>
          <a:prstGeom prst="roundRect">
            <a:avLst>
              <a:gd name="adj" fmla="val 25000"/>
            </a:avLst>
          </a:prstGeom>
          <a:solidFill>
            <a:srgbClr val="EEF4F8"/>
          </a:solidFill>
          <a:ln w="7620">
            <a:solidFill>
              <a:srgbClr val="C6D7E5"/>
            </a:solidFill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886075" y="1181100"/>
            <a:ext cx="19621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冻结权重加权和</a:t>
            </a:r>
            <a:endParaRPr sz="1350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257800" y="1171575"/>
            <a:ext cx="2095500" cy="304800"/>
          </a:xfrm>
          <a:prstGeom prst="roundRect">
            <a:avLst>
              <a:gd name="adj" fmla="val 25000"/>
            </a:avLst>
          </a:prstGeom>
          <a:solidFill>
            <a:srgbClr val="EEF4F8"/>
          </a:solidFill>
          <a:ln w="7620">
            <a:solidFill>
              <a:srgbClr val="C6D7E5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324475" y="1181100"/>
            <a:ext cx="19621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版本级分数 D</a:t>
            </a:r>
            <a:endParaRPr sz="1350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696200" y="1171575"/>
            <a:ext cx="4076700" cy="304800"/>
          </a:xfrm>
          <a:prstGeom prst="roundRect">
            <a:avLst>
              <a:gd name="adj" fmla="val 25000"/>
            </a:avLst>
          </a:prstGeom>
          <a:solidFill>
            <a:srgbClr val="EEF4F8"/>
          </a:solidFill>
          <a:ln w="7620">
            <a:solidFill>
              <a:srgbClr val="C6D7E5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762875" y="1181100"/>
            <a:ext cx="3943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 &gt; τ：版本漂移告警</a:t>
            </a:r>
            <a:endParaRPr sz="1350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2562225" y="1276350"/>
            <a:ext cx="171450" cy="114300"/>
          </a:xfrm>
          <a:prstGeom prst="rightArrow">
            <a:avLst/>
          </a:prstGeom>
          <a:solidFill>
            <a:srgbClr val="7C97AC"/>
          </a:solidFill>
          <a:ln w="0">
            <a:noFill/>
          </a:ln>
        </p:spPr>
      </p:sp>
      <p:sp>
        <p:nvSpPr>
          <p:cNvPr id="14" name="右箭头 13"/>
          <p:cNvSpPr>
            <a:spLocks noGrp="1"/>
          </p:cNvSpPr>
          <p:nvPr/>
        </p:nvSpPr>
        <p:spPr>
          <a:xfrm>
            <a:off x="5000625" y="1276350"/>
            <a:ext cx="171450" cy="114300"/>
          </a:xfrm>
          <a:prstGeom prst="rightArrow">
            <a:avLst/>
          </a:prstGeom>
          <a:solidFill>
            <a:srgbClr val="7C97AC"/>
          </a:solidFill>
          <a:ln w="0">
            <a:noFill/>
          </a:ln>
        </p:spPr>
      </p:sp>
      <p:sp>
        <p:nvSpPr>
          <p:cNvPr id="15" name="右箭头 14"/>
          <p:cNvSpPr>
            <a:spLocks noGrp="1"/>
          </p:cNvSpPr>
          <p:nvPr/>
        </p:nvSpPr>
        <p:spPr>
          <a:xfrm>
            <a:off x="7439025" y="1276350"/>
            <a:ext cx="171450" cy="114300"/>
          </a:xfrm>
          <a:prstGeom prst="rightArrow">
            <a:avLst/>
          </a:prstGeom>
          <a:solidFill>
            <a:srgbClr val="7C97AC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33375" y="1562100"/>
            <a:ext cx="11525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080" b="1">
                <a:solidFill>
                  <a:srgbClr val="C778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80" b="1">
                <a:solidFill>
                  <a:srgbClr val="C778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联合A/A标定200次：95%分位（higher）冻结 τ = 0.018710；下图为另200次A/A及200次A/B评估</a:t>
            </a:r>
            <a:endParaRPr sz="1080" b="1">
              <a:solidFill>
                <a:srgbClr val="C778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85750" y="6238875"/>
            <a:ext cx="1162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45A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A/A误报5.5%（11/200）；A/B检出65.0%（130/200），未检出35.0%（70/200）</a:t>
            </a:r>
            <a:endParaRPr sz="1350" b="1">
              <a:solidFill>
                <a:srgbClr val="245A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85750" y="6572250"/>
            <a:ext cx="1162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04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45" b="0">
                <a:solidFill>
                  <a:srgbClr val="6077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比例以整次版本模拟为单位；三批共享公共数据池与冻结联合标定协议，不代表未知版本部署性能。</a:t>
            </a:r>
            <a:endParaRPr sz="1045" b="0">
              <a:solidFill>
                <a:srgbClr val="6077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15B94"/>
          </a:solidFill>
          <a:ln w="9525">
            <a:solidFill>
              <a:srgbClr val="21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1417320"/>
            <a:ext cx="11064240" cy="15062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660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汇报结束</a:t>
            </a:r>
            <a:endParaRPr lang="zh-CN" sz="660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1097280" y="2423160"/>
            <a:ext cx="9966960" cy="38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00" b="0">
                <a:solidFill>
                  <a:srgbClr val="6D7A8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工程</a:t>
            </a:r>
            <a:r>
              <a:rPr sz="1900" b="0">
                <a:solidFill>
                  <a:srgbClr val="6D7A8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博士研究生开题答辩</a:t>
            </a:r>
            <a:endParaRPr sz="1900" b="0">
              <a:solidFill>
                <a:srgbClr val="6D7A8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3108960" y="4617720"/>
            <a:ext cx="603504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汇报人：刘庆
指导教师：王越
浙江大学工程师学院 · 2026年</a:t>
            </a:r>
            <a:r>
              <a:rPr lang="en-US" sz="14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r>
              <a:rPr sz="1450" b="0">
                <a:solidFill>
                  <a:srgbClr val="233D5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月</a:t>
            </a:r>
            <a:endParaRPr sz="1450" b="0">
              <a:solidFill>
                <a:srgbClr val="233D5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146304" y="6199632"/>
            <a:ext cx="11905488" cy="457200"/>
          </a:xfrm>
          <a:prstGeom prst="roundRect">
            <a:avLst>
              <a:gd name="adj" fmla="val 0"/>
            </a:avLst>
          </a:prstGeom>
          <a:solidFill>
            <a:srgbClr val="E8F0F8"/>
          </a:solidFill>
          <a:ln w="952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20" b="1">
                <a:solidFill>
                  <a:srgbClr val="215B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汇报结构：背景与现状 → 总体框架 → 五个模块展开 → 数据与实验 → 创新点与预期成果</a:t>
            </a:r>
            <a:endParaRPr sz="1320" b="1">
              <a:solidFill>
                <a:srgbClr val="215B9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9400</Words>
  <Application>WPS 表格</Application>
  <PresentationFormat>Converted Presentation</PresentationFormat>
  <Paragraphs>1048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4" baseType="lpstr">
      <vt:lpstr>Arial</vt:lpstr>
      <vt:lpstr>宋体</vt:lpstr>
      <vt:lpstr>Wingdings</vt:lpstr>
      <vt:lpstr>Arial</vt:lpstr>
      <vt:lpstr>PingFang SC</vt:lpstr>
      <vt:lpstr>微软雅黑</vt:lpstr>
      <vt:lpstr>Calibri</vt:lpstr>
      <vt:lpstr>Helvetica Neue</vt:lpstr>
      <vt:lpstr>微软雅黑</vt:lpstr>
      <vt:lpstr>方正雅意黑 GB18030L2</vt:lpstr>
      <vt:lpstr>宋体</vt:lpstr>
      <vt:lpstr>Arial Unicode MS</vt:lpstr>
      <vt:lpstr>汉仪书宋二KW</vt:lpstr>
      <vt:lpstr>微软雅黑</vt:lpstr>
      <vt:lpstr>Arial Regular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forwardxp</cp:lastModifiedBy>
  <cp:revision>19</cp:revision>
  <dcterms:created xsi:type="dcterms:W3CDTF">2026-10-11T05:20:14Z</dcterms:created>
  <dcterms:modified xsi:type="dcterms:W3CDTF">2026-10-11T05:20:14Z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5A2DF29348EDD0657B8DC96A072BF757_43</vt:lpwstr>
  </property>
  <property fmtid="{D5CDD505-2E9C-101B-9397-08002B2CF9AE}" pid="3" name="KSOProductBuildVer">
    <vt:lpwstr>2052-12.1.28496.28496</vt:lpwstr>
  </property>
</Properties>
</file>